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270dc48cd54911" /><Relationship Type="http://schemas.openxmlformats.org/officeDocument/2006/relationships/extended-properties" Target="/docProps/app.xml" Id="R9f8ae72e6d3749c1" /><Relationship Type="http://schemas.openxmlformats.org/officeDocument/2006/relationships/officeDocument" Target="/ppt/presentation.xml" Id="R39196006c939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6c70bf14554b5a"/>
  </p:sldMasterIdLst>
  <p:notesMasterIdLst>
    <p:notesMasterId xmlns:r="http://schemas.openxmlformats.org/officeDocument/2006/relationships" r:id="R7062e9e1a993484d"/>
  </p:notesMasterIdLst>
  <p:sldIdLst>
    <p:sldId xmlns:r="http://schemas.openxmlformats.org/officeDocument/2006/relationships" id="256" r:id="Rda03ec9b4cb2467f"/>
    <p:sldId xmlns:r="http://schemas.openxmlformats.org/officeDocument/2006/relationships" id="257" r:id="Ra7dc0db939904160"/>
    <p:sldId xmlns:r="http://schemas.openxmlformats.org/officeDocument/2006/relationships" id="258" r:id="R2ff21e591a934cad"/>
    <p:sldId xmlns:r="http://schemas.openxmlformats.org/officeDocument/2006/relationships" id="259" r:id="R24a3252eb59f44b2"/>
    <p:sldId xmlns:r="http://schemas.openxmlformats.org/officeDocument/2006/relationships" id="260" r:id="R2b1f1b9246b84890"/>
    <p:sldId xmlns:r="http://schemas.openxmlformats.org/officeDocument/2006/relationships" id="261" r:id="Rf234ac33ccb04273"/>
    <p:sldId xmlns:r="http://schemas.openxmlformats.org/officeDocument/2006/relationships" id="262" r:id="R08958bb3fd764535"/>
    <p:sldId xmlns:r="http://schemas.openxmlformats.org/officeDocument/2006/relationships" id="263" r:id="R120df3e97269428f"/>
    <p:sldId xmlns:r="http://schemas.openxmlformats.org/officeDocument/2006/relationships" id="264" r:id="R67c035f9750c4289"/>
    <p:sldId xmlns:r="http://schemas.openxmlformats.org/officeDocument/2006/relationships" id="265" r:id="Rf6d6b9db1f2f4bb0"/>
    <p:sldId xmlns:r="http://schemas.openxmlformats.org/officeDocument/2006/relationships" id="266" r:id="Rfe717a471e804670"/>
    <p:sldId xmlns:r="http://schemas.openxmlformats.org/officeDocument/2006/relationships" id="267" r:id="Ra88767703f444442"/>
    <p:sldId xmlns:r="http://schemas.openxmlformats.org/officeDocument/2006/relationships" id="268" r:id="Re71b73c0bd9b4b33"/>
    <p:sldId xmlns:r="http://schemas.openxmlformats.org/officeDocument/2006/relationships" id="269" r:id="R29e9146070f24539"/>
    <p:sldId xmlns:r="http://schemas.openxmlformats.org/officeDocument/2006/relationships" id="270" r:id="Rbec5571c266d4e6d"/>
    <p:sldId xmlns:r="http://schemas.openxmlformats.org/officeDocument/2006/relationships" id="271" r:id="Rab47f16c5a914cd0"/>
    <p:sldId xmlns:r="http://schemas.openxmlformats.org/officeDocument/2006/relationships" id="272" r:id="R2764a4d72ec14102"/>
    <p:sldId xmlns:r="http://schemas.openxmlformats.org/officeDocument/2006/relationships" id="273" r:id="R3185040b087d42ee"/>
    <p:sldId xmlns:r="http://schemas.openxmlformats.org/officeDocument/2006/relationships" id="274" r:id="R09418fb0c73e45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fc540a293144d8" /><Relationship Type="http://schemas.openxmlformats.org/officeDocument/2006/relationships/slideMaster" Target="/ppt/slideMasters/slideMaster1.xml" Id="Rdf6c70bf14554b5a" /><Relationship Type="http://schemas.openxmlformats.org/officeDocument/2006/relationships/notesMaster" Target="/ppt/notesMasters/notesMaster1.xml" Id="R7062e9e1a993484d" /><Relationship Type="http://schemas.openxmlformats.org/officeDocument/2006/relationships/presProps" Target="/ppt/presProps.xml" Id="Red57eeaa6c884cf2" /><Relationship Type="http://schemas.openxmlformats.org/officeDocument/2006/relationships/tableStyles" Target="/ppt/tableStyles.xml" Id="Rd0fda64861a04d53" /><Relationship Type="http://schemas.openxmlformats.org/officeDocument/2006/relationships/slide" Target="/ppt/slides/slide1.xml" Id="Rda03ec9b4cb2467f" /><Relationship Type="http://schemas.openxmlformats.org/officeDocument/2006/relationships/slide" Target="/ppt/slides/slide2.xml" Id="Ra7dc0db939904160" /><Relationship Type="http://schemas.openxmlformats.org/officeDocument/2006/relationships/slide" Target="/ppt/slides/slide3.xml" Id="R2ff21e591a934cad" /><Relationship Type="http://schemas.openxmlformats.org/officeDocument/2006/relationships/slide" Target="/ppt/slides/slide4.xml" Id="R24a3252eb59f44b2" /><Relationship Type="http://schemas.openxmlformats.org/officeDocument/2006/relationships/slide" Target="/ppt/slides/slide5.xml" Id="R2b1f1b9246b84890" /><Relationship Type="http://schemas.openxmlformats.org/officeDocument/2006/relationships/slide" Target="/ppt/slides/slide6.xml" Id="Rf234ac33ccb04273" /><Relationship Type="http://schemas.openxmlformats.org/officeDocument/2006/relationships/slide" Target="/ppt/slides/slide7.xml" Id="R08958bb3fd764535" /><Relationship Type="http://schemas.openxmlformats.org/officeDocument/2006/relationships/slide" Target="/ppt/slides/slide8.xml" Id="R120df3e97269428f" /><Relationship Type="http://schemas.openxmlformats.org/officeDocument/2006/relationships/slide" Target="/ppt/slides/slide9.xml" Id="R67c035f9750c4289" /><Relationship Type="http://schemas.openxmlformats.org/officeDocument/2006/relationships/slide" Target="/ppt/slides/slide10.xml" Id="Rf6d6b9db1f2f4bb0" /><Relationship Type="http://schemas.openxmlformats.org/officeDocument/2006/relationships/slide" Target="/ppt/slides/slide11.xml" Id="Rfe717a471e804670" /><Relationship Type="http://schemas.openxmlformats.org/officeDocument/2006/relationships/slide" Target="/ppt/slides/slide12.xml" Id="Ra88767703f444442" /><Relationship Type="http://schemas.openxmlformats.org/officeDocument/2006/relationships/slide" Target="/ppt/slides/slide13.xml" Id="Re71b73c0bd9b4b33" /><Relationship Type="http://schemas.openxmlformats.org/officeDocument/2006/relationships/slide" Target="/ppt/slides/slide14.xml" Id="R29e9146070f24539" /><Relationship Type="http://schemas.openxmlformats.org/officeDocument/2006/relationships/slide" Target="/ppt/slides/slide15.xml" Id="Rbec5571c266d4e6d" /><Relationship Type="http://schemas.openxmlformats.org/officeDocument/2006/relationships/slide" Target="/ppt/slides/slide16.xml" Id="Rab47f16c5a914cd0" /><Relationship Type="http://schemas.openxmlformats.org/officeDocument/2006/relationships/slide" Target="/ppt/slides/slide17.xml" Id="R2764a4d72ec14102" /><Relationship Type="http://schemas.openxmlformats.org/officeDocument/2006/relationships/slide" Target="/ppt/slides/slide18.xml" Id="R3185040b087d42ee" /><Relationship Type="http://schemas.openxmlformats.org/officeDocument/2006/relationships/slide" Target="/ppt/slides/slide19.xml" Id="R09418fb0c73e45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5761a8fc1047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94af528bfc4ede" /><Relationship Type="http://schemas.openxmlformats.org/officeDocument/2006/relationships/notesMaster" Target="/ppt/notesMasters/notesMaster1.xml" Id="R78ab56c7220a40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6c220b2940444f" /><Relationship Type="http://schemas.openxmlformats.org/officeDocument/2006/relationships/notesMaster" Target="/ppt/notesMasters/notesMaster1.xml" Id="R8e8ef7d414c943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c08c4550474588" /><Relationship Type="http://schemas.openxmlformats.org/officeDocument/2006/relationships/notesMaster" Target="/ppt/notesMasters/notesMaster1.xml" Id="R3a034ae59f7a4e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19359b0c2846d4" /><Relationship Type="http://schemas.openxmlformats.org/officeDocument/2006/relationships/notesMaster" Target="/ppt/notesMasters/notesMaster1.xml" Id="R1ad8a50e4bc442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c3f95d4cbc41e9" /><Relationship Type="http://schemas.openxmlformats.org/officeDocument/2006/relationships/notesMaster" Target="/ppt/notesMasters/notesMaster1.xml" Id="Reb9f171f517445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8d15c6826e4b5a" /><Relationship Type="http://schemas.openxmlformats.org/officeDocument/2006/relationships/notesMaster" Target="/ppt/notesMasters/notesMaster1.xml" Id="Rca4693570a684c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370c8caf8142be" /><Relationship Type="http://schemas.openxmlformats.org/officeDocument/2006/relationships/notesMaster" Target="/ppt/notesMasters/notesMaster1.xml" Id="R19ae7a70d49b46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0b3314856a422e" /><Relationship Type="http://schemas.openxmlformats.org/officeDocument/2006/relationships/notesMaster" Target="/ppt/notesMasters/notesMaster1.xml" Id="Rec3a6e2e417244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7d42825e744c62" /><Relationship Type="http://schemas.openxmlformats.org/officeDocument/2006/relationships/notesMaster" Target="/ppt/notesMasters/notesMaster1.xml" Id="R15436fabf59b4a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35770114a14bf4" /><Relationship Type="http://schemas.openxmlformats.org/officeDocument/2006/relationships/notesMaster" Target="/ppt/notesMasters/notesMaster1.xml" Id="Ra061b661bd0a41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0ab4808aa54a7c" /><Relationship Type="http://schemas.openxmlformats.org/officeDocument/2006/relationships/notesMaster" Target="/ppt/notesMasters/notesMaster1.xml" Id="Rd89daad0415848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bc7174edf04840" /><Relationship Type="http://schemas.openxmlformats.org/officeDocument/2006/relationships/notesMaster" Target="/ppt/notesMasters/notesMaster1.xml" Id="R522d0b7b9ed946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3551a657e141bf" /><Relationship Type="http://schemas.openxmlformats.org/officeDocument/2006/relationships/notesMaster" Target="/ppt/notesMasters/notesMaster1.xml" Id="Rccb584b4c59342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dd2bca06874303" /><Relationship Type="http://schemas.openxmlformats.org/officeDocument/2006/relationships/notesMaster" Target="/ppt/notesMasters/notesMaster1.xml" Id="R2e1f7332ed5d4a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304177f5b3451d" /><Relationship Type="http://schemas.openxmlformats.org/officeDocument/2006/relationships/notesMaster" Target="/ppt/notesMasters/notesMaster1.xml" Id="R9e6b3d11eef44e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ca0c56301640c4" /><Relationship Type="http://schemas.openxmlformats.org/officeDocument/2006/relationships/notesMaster" Target="/ppt/notesMasters/notesMaster1.xml" Id="R463bcadd37244b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b474f5a4734280" /><Relationship Type="http://schemas.openxmlformats.org/officeDocument/2006/relationships/notesMaster" Target="/ppt/notesMasters/notesMaster1.xml" Id="Rd3e49448f4d04d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3f3c23d4324568" /><Relationship Type="http://schemas.openxmlformats.org/officeDocument/2006/relationships/notesMaster" Target="/ppt/notesMasters/notesMaster1.xml" Id="R912fd953aab343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718ae28e9d463e" /><Relationship Type="http://schemas.openxmlformats.org/officeDocument/2006/relationships/notesMaster" Target="/ppt/notesMasters/notesMaster1.xml" Id="R072d6a8b98ce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Слайд: Титульный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Начать с вывода: стратегия стала уже и измеримее после исследования и обратной связи первой защиты.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Источники: S01 — Текущая защита; S02 — Стратегия 2.0; WEB — mdo.mobi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Слайд: Стратегия стала уже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Зафиксировать, что мы сознательно убрали направления без подтвержденного запроса.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Капитализацию не обсуждаем как операционный KPI.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Источники: S03 — Комментарии после защиты; S02 — Стратегия 2.0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2025 год нужно показывать через три сопоставимых числа: план, факт и разрыв.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Факт выручки — 32,742 млн ₽; план — 40,0 млн ₽; недовыполнение — 7,258 млн ₽.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К 2024 году выручка выросла примерно на 6,4%, но рост не отменяет невыполнение плана.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Основная зафиксированная причина разрыва — около пяти месяцев без устойчивого контура продаж во время перестройки команды.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Валовая прибыль рассчитана как выручка минус подтвержденная себестоимость модели 2025. Инвестиции и выплаты учредителям в нее не включены.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Слайд: Финансовая прозрачность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Главная мысль: аллокация не объясняет убыток 2026.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Выплаты учредителям и инвестиции показывать отдельно от операционной эффективности.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Источники: S06 — Аллокация с ГК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Сравниваются одинаковые периоды: январь–июнь 2025 и январь–июнь 2026.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Новые клиенты: 6 против 4; их годовой тариф — 2,28 против 1,21 млн ₽.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Полные отвалы: 3 против 4. Поэтому нельзя говорить, что отток снизился по количеству.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Потерянный годовой тариф при этом уменьшился: 0,40 против 0,35 млн ₽.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Чистый годовой тариф: 1,89 против 0,87 млн ₽, то есть снижение примерно на 54%.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Активная база — 159 строк со статусом «Действующий» в Мегатаблице; 157 из них имеют ненулевой текущий MRR.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Совокупный MRR активной базы — 2,803 млн ₽; средний ARPU по базе — 17,6 тыс. ₽.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Компонент тарифа «Сервис»: 136 клиентов, MRR 2,109 млн ₽, ARPU 15,5 тыс. ₽.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Компонент тарифа «ЭКСП»: 18 клиентов, MRR 606 тыс. ₽, ARPU 33,7 тыс. ₽.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60 сервисных УК — рабочая сегментация. На защите важно назвать критерий: активное мобильное приложение плюс робот или диспетчерская.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Исследование объединяет 22 интервью четырех групп и AI-аудит более двух тысяч причин отказов в Bitrix.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Эти источники нельзя складывать в одну выборку: интервью дают мотивы, CRM-аудит — структуру записанных причин отказа.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63,1% означает, что в этой доле записей клиент сохранил собственный или ручной процесс. Это не доля рынка и не доказательство «свободного рынка».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Покупающие клиенты ценят понятную диспетчеризацию, экспертный запуск, тариф и разгрузку типовых обращений.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Отказ часто связан не с конкурентом, а с сохранением собственного процесса, риском перехода или недоказанной ценностью.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Целевой крупный клиент требует интеграций, единого окна, удобного приложения и консультирующего AI-диспетчера.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В речи избегать оценок «необразованный» или «дешевый сегмент»: нейтральная формулировка — клиент не видит достаточной ценности перехода.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Слайд: Конкурентная реальность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Не показывать сравнение только с Doma.ai: это сужает реальный контекст выбора.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Ключевой барьер — изменение процесса и качество внедрения.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Источники: S07 — Исследование по текущим данным; S09 — Итоговый срез 10.06.2026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После первой защиты команда ввела регулярный контроль клиентских и сервисных показателей.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Аккаунт-менеджер еженедельно отслеживает падение использования робота и диспетчерской и связывается с клиентом до формального отказа.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Продажи и продукт смотрят CAC и payback; поддержка — скорость и качество тикетов; разработка — доступность и скорость исправления ошибок.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Честный статус: данные уже собираются, но часть порогов, владельцев реакции и нормативов uptime еще формализуется.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Это экономика действующего робота: 2 ₽ себестоимости минуты и 923 минуты на среднего активного внешнего клиента в апреле.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При типовом тарифе сервисной УК переменная стоимость робота занимает около 3–4% тарифа.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Стресс-сценарий 6 тысяч минут дает 12 тысяч ₽, или около 22–27% типового тарифа.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Будущий консультирующий AI-робот — отдельная гипотеза. Оценку около 10 ₽ за минуту от одного разработчика нельзя показывать как подтвержденный факт.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Сначала проверяем текстовую консультацию и точность, затем считаем полный TCO голосового контура.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Корректная формулировка: клиент оплатил диспетчеризацию МДО и вошел в пилотный контур РЦ. Это не означает, что услуга РЦ уже оплачена отдельно.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На dev-стенде показаны нормативный расчет, детализация пеней, проверка одного дома на 30 лицевых счетах и генерация 30 из 30 квитанций.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Пока не подтверждены production readiness, закрытие периода, ненулевые льготы и перерасчеты, распределение платежей, фискализация, прямой обмен с ГИС ЖКХ и масштаб свыше 30 лицевых счетов.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Контрольная дата для защиты — 10 сентября 2026 года. Это дата проверки устойчивого расчета, а не обещание полностью промышленного РЦ.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Слайд: Модель роста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Это не три отдельных бизнеса: слои усиливают один закрытый контур.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Робот — вход в продажу; РЦ — расширение контракта после проверки fit.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Источники: S02 — Стратегия 2.0; S03 — Комментарии после защиты; S09 — Итоговый срез 10.06.2026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Revenue LTV за три года — средняя выручка от одного действующего клиента на выбранном трехлетнем горизонте.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Gross-profit LTV — та же трехлетняя выручка, умноженная на валовую маржу 55%; это вклад после прямой себестоимости, но до общих расходов.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CAC — расходы продаж, разделенные на число новых клиентов за сопоставимый период.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Payback 24 месяца — срок возврата CAC через ежемесячную валовую прибыль клиента.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MRR — сумма ежемесячных регулярных начислений активной клиентской базы. Это не поступления денег на расчетный счет.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По выручке текущий темп заметно ниже цели 45 млн ₽; нужно показать разрыв и сценарий его закрытия, а не только сам план.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Цель 40 новых клиентов сейчас не декомпозирована: факт 5, остается 35, то есть примерно 6,4 клиента в месяц до конца года против текущего темпа около 0,8.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Поэтому цель следует пересмотреть или подкрепить отдельной воронкой, ресурсами и помесячным планом.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90 тысяч — цифровой охват: пользователи мобильного приложения плюс идентифицированные пользователи MAX минус дубли. С помещениями этот показатель сравнивать нельзя.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Дорожная карта отвечает на три вопроса: что делаем, к какой дате и кто отвечает.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Единая контрольная дата РЦ — 10 сентября 2026 года.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Июль и август посвящены надежности, данным ГИС, контрольному расчету и первому AI-прототипу; Q4 — только проверенным апсейлам и пилотам.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Горизонт 2028 сформулирован через состав новых продаж, а не через абстрактное лидерство.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Робот должен быть причиной выбора в 100% новых продаж; не менее 30% продаж — вместе с РЦ, биллингом или расчетной услугой.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Отдельно: не менее 30% новых клиентов — РСО, использующие AI-робота для разгрузки абонентского контура.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Сегменты могут пересекаться, поэтому проценты не нужно складывать до 100%.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Не зачитывать весь слайд. Выбрать только тот вопрос, который комитет поднимет повторно.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Капитализация сознательно исключена из операционного контура по решению владельца стратегии.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Этот слайд закрывает прежние вопросы о карте, ССП, владельцах и главном драйвере роста.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Doma.ai — один из конкурентов, но не единственная альтернатива. В CRM МДО чаще встречается сохранение собственного процесса.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По РЦ отвечать строго: есть пилотный контур и проверенные элементы, но полной промышленной готовности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73da7b2da4f62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0ffcc60a5b4f1d" /><Relationship Type="http://schemas.openxmlformats.org/officeDocument/2006/relationships/slideLayout" Target="/ppt/slideLayouts/slideLayout1.xml" Id="R5c7dfd388a9c403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dfd388a9c403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a150e92ce46db" /><Relationship Type="http://schemas.openxmlformats.org/officeDocument/2006/relationships/image" Target="/ppt/media/image.png" Id="R5e925764a51549a6" /><Relationship Type="http://schemas.openxmlformats.org/officeDocument/2006/relationships/image" Target="/ppt/media/image2.png" Id="R6eac431d43314387" /><Relationship Type="http://schemas.openxmlformats.org/officeDocument/2006/relationships/notesSlide" Target="/ppt/notesSlides/notesSlide1.xml" Id="R33ad1007e8df44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40ef056344078" /><Relationship Type="http://schemas.openxmlformats.org/officeDocument/2006/relationships/hyperlink" Target="https://docs.google.com/spreadsheets/d/1O82-J2lvaeI_EWto5JotHs71_R15-JakxhDNUXM0-7k/edit?gid=741563235#gid=741563235" TargetMode="External" Id="Rfffb13a102794b36" /><Relationship Type="http://schemas.openxmlformats.org/officeDocument/2006/relationships/notesSlide" Target="/ppt/notesSlides/notesSlide2.xml" Id="R7385cf57489b49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c011197544e11" /><Relationship Type="http://schemas.openxmlformats.org/officeDocument/2006/relationships/image" Target="/ppt/media/image.png" Id="R55bda86df52a427d" /><Relationship Type="http://schemas.openxmlformats.org/officeDocument/2006/relationships/image" Target="/ppt/media/image3.png" Id="Reee13b74029f4512" /><Relationship Type="http://schemas.openxmlformats.org/officeDocument/2006/relationships/notesSlide" Target="/ppt/notesSlides/notesSlide3.xml" Id="R3658de5c26e34a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6ed4853134cb9" /><Relationship Type="http://schemas.openxmlformats.org/officeDocument/2006/relationships/image" Target="/ppt/media/image.png" Id="Rb3a8d1866cb9437b" /><Relationship Type="http://schemas.openxmlformats.org/officeDocument/2006/relationships/notesSlide" Target="/ppt/notesSlides/notesSlide4.xml" Id="Rc0e747424b804b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b215f84d94ccf" /><Relationship Type="http://schemas.openxmlformats.org/officeDocument/2006/relationships/image" Target="/ppt/media/image.png" Id="R557d9d764142425f" /><Relationship Type="http://schemas.openxmlformats.org/officeDocument/2006/relationships/notesSlide" Target="/ppt/notesSlides/notesSlide5.xml" Id="R216d26b112774c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2dbf7bcd34d7a" /><Relationship Type="http://schemas.openxmlformats.org/officeDocument/2006/relationships/notesSlide" Target="/ppt/notesSlides/notesSlide6.xml" Id="Rafac0eca61e048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a6b960a814cd1" /><Relationship Type="http://schemas.openxmlformats.org/officeDocument/2006/relationships/notesSlide" Target="/ppt/notesSlides/notesSlide7.xml" Id="R3cd362ee90584c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8acfd9d8e49e7" /><Relationship Type="http://schemas.openxmlformats.org/officeDocument/2006/relationships/notesSlide" Target="/ppt/notesSlides/notesSlide8.xml" Id="R8ad516237c8b4b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4226d7ed24818" /><Relationship Type="http://schemas.openxmlformats.org/officeDocument/2006/relationships/notesSlide" Target="/ppt/notesSlides/notesSlide9.xml" Id="R130690edaec545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cd4bccb414606" /><Relationship Type="http://schemas.openxmlformats.org/officeDocument/2006/relationships/hyperlink" Target="https://docs.google.com/spreadsheets/d/1p2A13iHXAvhB9ZrLrjD-7nS1i7TLp77egJsS1vY6z-s/edit?gid=0#gid=0" TargetMode="External" Id="R3f9f307ad0b34932" /><Relationship Type="http://schemas.openxmlformats.org/officeDocument/2006/relationships/notesSlide" Target="/ppt/notesSlides/notesSlide10.xml" Id="Rce11e7fee9f64e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305af5420417e" /><Relationship Type="http://schemas.openxmlformats.org/officeDocument/2006/relationships/image" Target="/ppt/media/image.png" Id="R817facb1d0624b3a" /><Relationship Type="http://schemas.openxmlformats.org/officeDocument/2006/relationships/notesSlide" Target="/ppt/notesSlides/notesSlide11.xml" Id="R3e2bf39690c440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f95023aef4cf9" /><Relationship Type="http://schemas.openxmlformats.org/officeDocument/2006/relationships/notesSlide" Target="/ppt/notesSlides/notesSlide12.xml" Id="R72ac403ed5304e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8f4303aa849c0" /><Relationship Type="http://schemas.openxmlformats.org/officeDocument/2006/relationships/notesSlide" Target="/ppt/notesSlides/notesSlide13.xml" Id="R253bf87415624a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af226587c4b48" /><Relationship Type="http://schemas.openxmlformats.org/officeDocument/2006/relationships/image" Target="/ppt/media/image.png" Id="R6f67a0d3440b4b4a" /><Relationship Type="http://schemas.openxmlformats.org/officeDocument/2006/relationships/notesSlide" Target="/ppt/notesSlides/notesSlide14.xml" Id="R589168bc8eb44b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96e92892449d5" /><Relationship Type="http://schemas.openxmlformats.org/officeDocument/2006/relationships/image" Target="/ppt/media/image.png" Id="R7d2787420bc0473a" /><Relationship Type="http://schemas.openxmlformats.org/officeDocument/2006/relationships/notesSlide" Target="/ppt/notesSlides/notesSlide15.xml" Id="R7d3b31d606a543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1fa1e2dee4ebf" /><Relationship Type="http://schemas.openxmlformats.org/officeDocument/2006/relationships/image" Target="/ppt/media/image.png" Id="Rcbabe0d9bac5472b" /><Relationship Type="http://schemas.openxmlformats.org/officeDocument/2006/relationships/hyperlink" Target="https://docs.google.com/spreadsheets/d/1O82-J2lvaeI_EWto5JotHs71_R15-JakxhDNUXM0-7k/edit?gid=741563235#gid=741563235" TargetMode="External" Id="Rf42de8d7c4ff4a18" /><Relationship Type="http://schemas.openxmlformats.org/officeDocument/2006/relationships/notesSlide" Target="/ppt/notesSlides/notesSlide16.xml" Id="R2618fc3a367946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2063e35d34d4f" /><Relationship Type="http://schemas.openxmlformats.org/officeDocument/2006/relationships/image" Target="/ppt/media/image.png" Id="R02b2d41c0b7c4e7e" /><Relationship Type="http://schemas.openxmlformats.org/officeDocument/2006/relationships/notesSlide" Target="/ppt/notesSlides/notesSlide17.xml" Id="R892d8b851c0647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c7242586a464f" /><Relationship Type="http://schemas.openxmlformats.org/officeDocument/2006/relationships/hyperlink" Target="https://docs.google.com/spreadsheets/d/1O82-J2lvaeI_EWto5JotHs71_R15-JakxhDNUXM0-7k/edit?gid=741563235#gid=741563235" TargetMode="External" Id="R230df80acf914f55" /><Relationship Type="http://schemas.openxmlformats.org/officeDocument/2006/relationships/notesSlide" Target="/ppt/notesSlides/notesSlide18.xml" Id="Rc55d67feba24447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c56e5855a4c5e" /><Relationship Type="http://schemas.openxmlformats.org/officeDocument/2006/relationships/hyperlink" Target="https://docs.google.com/spreadsheets/d/1O82-J2lvaeI_EWto5JotHs71_R15-JakxhDNUXM0-7k/edit?gid=741563235#gid=741563235" TargetMode="External" Id="R3f820cc8f22047c9" /><Relationship Type="http://schemas.openxmlformats.org/officeDocument/2006/relationships/notesSlide" Target="/ppt/notesSlides/notesSlide19.xml" Id="Rdd23d8650e1143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21196632-7E9B-4380-948D-1C16F791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0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50" tIns="108950" rIns="108950" bIns="10895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2" name="Google Shape;17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925764a51549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514350"/>
            <a:ext cx="148590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A18C7F8F-2D08-4243-8BA5-B1B2F176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75" y="2827550"/>
            <a:ext cx="6572400" cy="23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21" b="1">
                <a:solidFill>
                  <a:srgbClr val="2E2B24"/>
                </a:solidFill>
              </a:rPr>
              <a:t>Обновленная с</a:t>
            </a:r>
            <a:r>
              <a:rPr sz="3221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тратегия МДО 2026</a:t>
            </a:r>
            <a:br/>
            <a:r>
              <a:rPr sz="1900" b="1">
                <a:solidFill>
                  <a:srgbClr val="FF570A"/>
                </a:solidFill>
              </a:rPr>
              <a:t>Обновили запрашиваемые бизнес-показатели.</a:t>
            </a:r>
          </a:p>
          <a:p xmlns:a="http://schemas.openxmlformats.org/drawingml/2006/main">
            <a:pPr marL="0" marR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570A"/>
                </a:solidFill>
              </a:rPr>
              <a:t>Провели исследование для выбора направлений развития.</a:t>
            </a:r>
          </a:p>
          <a:p xmlns:a="http://schemas.openxmlformats.org/drawingml/2006/main">
            <a:pPr marL="0" marR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570A"/>
                </a:solidFill>
              </a:rPr>
              <a:t>Ввели регулярный учет SLA по сервису.</a:t>
            </a:r>
            <a:r>
              <a:rPr sz="1900" b="1">
                <a:solidFill>
                  <a:srgbClr val="FF570A"/>
                </a:solidFill>
              </a:rPr>
              <a:t> </a:t>
            </a:r>
          </a:p>
        </p:txBody>
      </p:sp>
      <p:pic>
        <p:nvPicPr>
          <p:cNvPr id="24" name="Google Shape;19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ac431d433143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572125" y="1428750"/>
            <a:ext cx="5905500" cy="33813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5386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5DAD2A6C-3521-4C63-BCFC-6FA3107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237" y="274326"/>
            <a:ext cx="3438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1" b="1">
                <a:solidFill>
                  <a:srgbClr val="FF570A"/>
                </a:solidFill>
              </a:rPr>
              <a:t>ПОСЛЕ ПЕРВОЙ ЗАЩИТЫ</a:t>
            </a:r>
          </a:p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3E16FCEA-47EE-47DA-8175-E7C8C0BD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274320"/>
            <a:ext cx="3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736E63"/>
                </a:solidFill>
              </a:rPr>
              <a:t>02</a:t>
            </a: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0254834D-D2C8-457D-A3C6-55319E0E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790188"/>
            <a:ext cx="11834700" cy="7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44" b="1">
                <a:solidFill>
                  <a:srgbClr val="292729"/>
                </a:solidFill>
              </a:rPr>
              <a:t>После первой защиты: четыре запроса ГК, которые мы закрыли</a:t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5EAFCC82-B398-4DB2-9C08-0F7E8BB7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1558923"/>
            <a:ext cx="1193550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93">
                <a:solidFill>
                  <a:srgbClr val="736E63"/>
                </a:solidFill>
              </a:rPr>
              <a:t>Все вопросы сведены в рабочую таблицу. Ниже — только четыре блока, из которых построена обновленная стратегия.</a:t>
            </a: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73B3ADED-E5E7-4695-8975-089A95A4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2165819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846FE0E0-1DD9-44DD-853E-A52A1128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2297313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>01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BEF8F11-6454-448D-B552-29A57430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2266968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Финансовая база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54506F8-1BEE-4B2A-BC06-ED0D4168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2277083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Выручка, валовая прибыль, результат до и после аллокации</a:t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7B9BD155-91F5-4EE0-90A7-CA8BB4DF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2954783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4DB01916-3354-4EAF-B573-9D5ADF52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3086277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>02</a:t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A17EE359-2792-4915-B63C-DBBAB7FF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3055933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Рынок и драйвер роста</a:t>
            </a: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A0EF3B28-2865-4337-9644-F781BE66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3066048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Целевая аудитория, реальные альтернативы клиента, конкурентное преимущество</a:t>
            </a: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3A9A2ABF-819C-48D9-964B-46EA32E9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3743748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1245178A-FA32-46B2-B876-C406C7D3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3875242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>03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685D49D5-E7FF-4317-BD97-6C2461A1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3844897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Управление стратегией</a:t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B73337A4-5C35-46EF-A85C-8932A8E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3855012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ССП, проверяемые KPI и связка «анализ → вывод → цель»</a:t>
            </a:r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4522E062-E629-41EB-A825-0D7DA024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4532713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1F335768-99AC-45AF-A552-829DE65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4664207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>04</a:t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1F9A20B9-9BCA-49C4-A3E8-9366B874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4633862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Продуктовые метрики</a:t>
            </a:r>
          </a:p>
        </p:txBody>
      </p:sp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CA118F94-4A53-4E38-B9B0-264ACC82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4643977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Дорожная карта с ответственными, сроками </a:t>
            </a:r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972BBA3C-C3B3-42C8-8D87-85F2CE40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5483516"/>
            <a:ext cx="11986200" cy="728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27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F9CA9C0F-0BC4-45B8-92C5-A4B39112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54" y="5706060"/>
            <a:ext cx="8395200" cy="42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 b="1" u="sng">
                <a:solidFill>
                  <a:schemeClr val="lt1"/>
                </a:solidFill>
                <a:hlinkClick xmlns:r="http://schemas.openxmlformats.org/officeDocument/2006/relationships" r:id="Rfffb13a102794b36"/>
              </a:rPr>
              <a:t>Короткие ответы комитету → приложение, слайды 18–19</a:t>
            </a:r>
          </a:p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326855B6-316D-42A7-98E3-3485D68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502" y="5625126"/>
            <a:ext cx="3034500" cy="42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1">
                <a:solidFill>
                  <a:srgbClr val="E3E0DB"/>
                </a:solidFill>
              </a:rPr>
              <a:t>Рабочая таблица: стратегическая карта · ССП · дорожная карта</a:t>
            </a:r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7ED64A2A-9210-4DF0-A0D9-8FDA561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6484895"/>
            <a:ext cx="8597700" cy="20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>
                <a:solidFill>
                  <a:srgbClr val="736E63"/>
                </a:solidFill>
              </a:rPr>
              <a:t>Источник: комментарии комитета после первой защиты · рабочая стратегия МДО 2026</a:t>
            </a:r>
          </a:p>
        </p:txBody>
      </p:sp>
    </p:spTree>
    <p:extLst>
      <p:ext uri="{BB962C8B-B14F-4D97-AF65-F5344CB8AC3E}">
        <p14:creationId xmlns:p14="http://schemas.microsoft.com/office/powerpoint/2010/main" val="1677213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5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bda86df52a42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85750"/>
            <a:ext cx="10668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7F1FB108-8157-4402-998D-9EFD04D6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419"/>
              <a:buFont typeface="Arial"/>
              <a:buNone/>
            </a:pPr>
            <a:r>
              <a:rPr sz="2419" b="1">
                <a:solidFill>
                  <a:srgbClr val="2E2B24"/>
                </a:solidFill>
              </a:rPr>
              <a:t>2025: выручка выросла, но план 40 млн ₽ не выполнен</a:t>
            </a: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DE92ADB3-3325-45FF-B509-1616524D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5EB3A38A-F9D7-41AB-9391-CE18DC61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363200" cy="36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425"/>
              <a:buFont typeface="Arial"/>
              <a:buNone/>
            </a:pPr>
            <a:r>
              <a:rPr sz="1425">
                <a:solidFill>
                  <a:srgbClr val="6E685B"/>
                </a:solidFill>
              </a:rPr>
              <a:t>Факт 32,742 млн ₽ против плана 40,0 млн ₽. Рост к 2024 году — 6,4%; разрыв с планом — 7,258 млн ₽.</a:t>
            </a:r>
          </a:p>
        </p:txBody>
      </p:sp>
      <p:pic>
        <p:nvPicPr>
          <p:cNvPr id="120" name="Google Shape;58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e13b74029f45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266950"/>
            <a:ext cx="6429375" cy="3219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F841AC40-B926-4869-9820-700547E7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3981450" cy="33718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11481D48-8D06-4CAD-95BA-7B5E2FFF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3600"/>
              <a:buFont typeface="Arial"/>
              <a:buNone/>
            </a:pPr>
            <a:r>
              <a:rPr sz="3600" b="1">
                <a:solidFill>
                  <a:srgbClr val="FF570A"/>
                </a:solidFill>
              </a:rPr>
              <a:t>32,742</a:t>
            </a: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293EB3FB-FC4C-4863-BF19-67318DBC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337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>
                <a:solidFill>
                  <a:srgbClr val="6E685B"/>
                </a:solidFill>
              </a:rPr>
              <a:t>млн ₽ · фактическая выручка 2025</a:t>
            </a:r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6802D153-2779-4549-9A53-CC86AF96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90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3600"/>
              <a:buFont typeface="Arial"/>
              <a:buNone/>
            </a:pPr>
            <a:r>
              <a:rPr sz="3600" b="1">
                <a:solidFill>
                  <a:srgbClr val="2E2B24"/>
                </a:solidFill>
              </a:rPr>
              <a:t>40,0</a:t>
            </a:r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3B93AAD6-A131-45BB-B2DF-5F01404C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291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>
                <a:solidFill>
                  <a:srgbClr val="6E685B"/>
                </a:solidFill>
              </a:rPr>
              <a:t>млн ₽ · план 2025</a:t>
            </a:r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D8EBB443-E12A-4426-8E55-6AC73148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125"/>
              <a:buFont typeface="Arial"/>
              <a:buNone/>
            </a:pPr>
            <a:r>
              <a:rPr sz="1125">
                <a:solidFill>
                  <a:srgbClr val="6E685B"/>
                </a:solidFill>
              </a:rPr>
              <a:t>Разрыв −7,258 млн ₽ · валовая маржа ≈55% · валовая прибыль ≈18,0 млн ₽</a:t>
            </a:r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CCDC4B0F-52BD-4C22-A8B3-A9AFD373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94640"/>
              </a:buClr>
              <a:buSzPts val="1125"/>
              <a:buFont typeface="Arial"/>
              <a:buNone/>
            </a:pPr>
            <a:r>
              <a:rPr sz="1125" b="1">
                <a:solidFill>
                  <a:srgbClr val="494640"/>
                </a:solidFill>
                <a:latin typeface="Arial"/>
                <a:ea typeface="Arial"/>
                <a:cs typeface="Arial"/>
              </a:rPr>
              <a:t>29,785 млн ₽ поступлений на расчетные счета — cash flow, не выручка.</a:t>
            </a:r>
          </a:p>
        </p:txBody>
      </p:sp>
      <p:cxnSp>
        <p:nvCxnSpPr>
          <p:cNvPr id="128" name="Google Shape;66;p5"/>
          <p:cNvCxnSpPr/>
          <p:nvPr/>
        </p:nvCxn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C550052C-C4CB-44B1-B8DB-F2683E06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1">
                <a:solidFill>
                  <a:srgbClr val="6E685B"/>
                </a:solidFill>
              </a:rPr>
              <a:t>Источники: Мегатаблица / «Аккаунты» · финансовая модель 2025</a:t>
            </a:r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CFE736FE-E7E4-4D1A-B461-8EBFE8C8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5320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825"/>
              <a:buFont typeface="Arial"/>
              <a:buNone/>
            </a:pPr>
            <a:r>
              <a:rPr sz="8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2021 исключен: неполный период</a:t>
            </a:r>
          </a:p>
        </p:txBody>
      </p:sp>
    </p:spTree>
    <p:extLst>
      <p:ext uri="{BB962C8B-B14F-4D97-AF65-F5344CB8AC3E}">
        <p14:creationId xmlns:p14="http://schemas.microsoft.com/office/powerpoint/2010/main" val="2020177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8" name="Google Shape;74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a8d1866cb943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85750"/>
            <a:ext cx="10668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790250CD-1922-4F9C-A7C6-2FB73E9E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31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900"/>
              <a:buFont typeface="Arial"/>
              <a:buNone/>
            </a:pPr>
            <a:r>
              <a:rPr sz="90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ФИНАНСОВАЯ ПРОЗРАЧНОСТЬ</a:t>
            </a: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C95EE587-8240-4AB6-A4F1-3D9C6E73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907"/>
              <a:buFont typeface="Arial"/>
              <a:buNone/>
            </a:pPr>
            <a:r>
              <a:rPr sz="1908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Аллокация почти не меняет операционный результат — инвестиции и выплаты идут ниже линии</a:t>
            </a: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05B7CB3C-28E7-4F62-B77C-B18B2F29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E8D3F3CA-80F5-4187-9CAE-FBCEF46C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350"/>
              <a:buFont typeface="Arial"/>
              <a:buNone/>
            </a:pPr>
            <a:r>
              <a:rPr sz="1350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Сравнение двух закрытых периодов. Июнь 2026 исключен: в источнике нет полной выручки и OPEX.</a:t>
            </a: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ED2F864B-BFC3-4674-A169-E4B07DB7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77000" cy="33147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2E115D05-BE5C-40DC-B44F-47F642A3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5277000" cy="33147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0510BC21-D36F-4375-869A-DC8F01ED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190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B4000"/>
              </a:buClr>
              <a:buSzPts val="975"/>
              <a:buFont typeface="Arial"/>
              <a:buNone/>
            </a:pPr>
            <a:r>
              <a:rPr sz="975" b="1">
                <a:solidFill>
                  <a:srgbClr val="CB4000"/>
                </a:solidFill>
                <a:latin typeface="Arial"/>
                <a:ea typeface="Arial"/>
                <a:cs typeface="Arial"/>
              </a:rPr>
              <a:t>ОКТЯБРЬ–ДЕКАБРЬ 2025</a:t>
            </a: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D796E571-A272-4BF0-B2D3-29D299C7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19350"/>
            <a:ext cx="1809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ЯНВАРЬ–МАЙ 2026</a:t>
            </a:r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6C7501AA-ECBC-4D8D-AB25-B48CCF33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Выручка</a:t>
            </a:r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0D665A95-7E3E-449F-A16A-46BA3FA5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956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10,27</a:t>
            </a:r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83F9B22E-D5FD-40F9-A404-8682F807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Выручка</a:t>
            </a:r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0CD53DE4-D5E5-4D51-9564-B2F52714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8956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11,26</a:t>
            </a:r>
          </a:p>
        </p:txBody>
      </p:sp>
      <p:cxnSp>
        <p:nvCxnSpPr>
          <p:cNvPr id="251" name="Google Shape;87;p6"/>
          <p:cNvCxnSpPr/>
          <p:nvPr/>
        </p:nvCxnSpPr>
        <p:spPr>
          <a:xfrm xmlns:a="http://schemas.openxmlformats.org/drawingml/2006/main">
            <a:off x="952500" y="32385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2" name="Google Shape;88;p6"/>
          <p:cNvCxnSpPr/>
          <p:nvPr/>
        </p:nvCxnSpPr>
        <p:spPr>
          <a:xfrm xmlns:a="http://schemas.openxmlformats.org/drawingml/2006/main">
            <a:off x="6496050" y="32385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FE199682-8CAC-42CD-9EC2-01D2B7CF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OPEX</a:t>
            </a:r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1E80BC2B-22DD-4A53-8026-62306C8F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3528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−5,70</a:t>
            </a:r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4CAFB15B-57E3-468D-BEFE-21263AE2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OPEX</a:t>
            </a:r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6E695F90-B17D-4CE1-922E-1B6B1CDE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3528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−13,56</a:t>
            </a:r>
          </a:p>
        </p:txBody>
      </p:sp>
      <p:cxnSp>
        <p:nvCxnSpPr>
          <p:cNvPr id="257" name="Google Shape;93;p6"/>
          <p:cNvCxnSpPr/>
          <p:nvPr/>
        </p:nvCxnSpPr>
        <p:spPr>
          <a:xfrm xmlns:a="http://schemas.openxmlformats.org/drawingml/2006/main">
            <a:off x="952500" y="36957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8" name="Google Shape;94;p6"/>
          <p:cNvCxnSpPr/>
          <p:nvPr/>
        </p:nvCxnSpPr>
        <p:spPr>
          <a:xfrm xmlns:a="http://schemas.openxmlformats.org/drawingml/2006/main">
            <a:off x="6496050" y="36957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0107CDC9-8669-4EDE-BADE-B564BC57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До аллокации</a:t>
            </a: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CBCEEF8F-E9D4-4F96-8D60-D1C66042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100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+4,57</a:t>
            </a: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659AE2AB-6BC4-4AD1-B645-4D73E35D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До аллокации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154070D9-81BF-4451-93D9-327EB89A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00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−2,30</a:t>
            </a:r>
          </a:p>
        </p:txBody>
      </p:sp>
      <p:cxnSp>
        <p:nvCxnSpPr>
          <p:cNvPr id="263" name="Google Shape;99;p6"/>
          <p:cNvCxnSpPr/>
          <p:nvPr/>
        </p:nvCxnSpPr>
        <p:spPr>
          <a:xfrm xmlns:a="http://schemas.openxmlformats.org/drawingml/2006/main">
            <a:off x="952500" y="41529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4" name="Google Shape;100;p6"/>
          <p:cNvCxnSpPr/>
          <p:nvPr/>
        </p:nvCxnSpPr>
        <p:spPr>
          <a:xfrm xmlns:a="http://schemas.openxmlformats.org/drawingml/2006/main">
            <a:off x="6496050" y="41529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47E9B02C-E9D9-4C58-B0B1-41238FBC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Аллокация ГК</a:t>
            </a:r>
          </a:p>
        </p:txBody>
      </p:sp>
      <p:sp>
        <p:nvSpPr>
          <p:cNvPr id="102" name="Google Shape;102;p6">
            <a:extLst xmlns:a="http://schemas.openxmlformats.org/drawingml/2006/main">
              <a:ext uri="{FF2B5EF4-FFF2-40B4-BE49-F238E27FC236}">
                <a16:creationId xmlns:a16="http://schemas.microsoft.com/office/drawing/2014/main" id="{03FFFAEA-1F94-472C-B197-1E2662DC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672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−0,07</a:t>
            </a:r>
          </a:p>
        </p:txBody>
      </p:sp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C12F63DE-2631-4DCF-84B2-A54950E9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Аллокация ГК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E388B190-E577-451D-892C-072D4ACF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2672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−0,05</a:t>
            </a:r>
          </a:p>
        </p:txBody>
      </p:sp>
      <p:cxnSp>
        <p:nvCxnSpPr>
          <p:cNvPr id="269" name="Google Shape;105;p6"/>
          <p:cNvCxnSpPr/>
          <p:nvPr/>
        </p:nvCxnSpPr>
        <p:spPr>
          <a:xfrm xmlns:a="http://schemas.openxmlformats.org/drawingml/2006/main">
            <a:off x="952500" y="46101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0" name="Google Shape;106;p6"/>
          <p:cNvCxnSpPr/>
          <p:nvPr/>
        </p:nvCxnSpPr>
        <p:spPr>
          <a:xfrm xmlns:a="http://schemas.openxmlformats.org/drawingml/2006/main">
            <a:off x="6496050" y="46101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6">
            <a:extLst xmlns:a="http://schemas.openxmlformats.org/drawingml/2006/main">
              <a:ext uri="{FF2B5EF4-FFF2-40B4-BE49-F238E27FC236}">
                <a16:creationId xmlns:a16="http://schemas.microsoft.com/office/drawing/2014/main" id="{27DF4E4D-8094-4904-9E8F-5FB7DAF6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200"/>
              <a:buFont typeface="Arial"/>
              <a:buNone/>
            </a:pPr>
            <a:r>
              <a:rPr sz="1200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После аллокации</a:t>
            </a:r>
          </a:p>
        </p:txBody>
      </p:sp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16F4EB42-0E37-4FA4-99B4-E6F74C9A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7244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A64E"/>
              </a:buClr>
              <a:buSzPts val="1425"/>
              <a:buFont typeface="Arial"/>
              <a:buNone/>
            </a:pPr>
            <a:r>
              <a:rPr sz="1425" b="1">
                <a:solidFill>
                  <a:srgbClr val="3AA64E"/>
                </a:solidFill>
                <a:latin typeface="Arial"/>
                <a:ea typeface="Arial"/>
                <a:cs typeface="Arial"/>
              </a:rPr>
              <a:t>+4,50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0C69ABF9-E5F6-4C00-8F53-9B14FD42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244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200"/>
              <a:buFont typeface="Arial"/>
              <a:buNone/>
            </a:pPr>
            <a:r>
              <a:rPr sz="1200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После аллокации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AD7E7B5E-25B1-4C11-8BDC-A4478954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7244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24A45"/>
              </a:buClr>
              <a:buSzPts val="1425"/>
              <a:buFont typeface="Arial"/>
              <a:buNone/>
            </a:pPr>
            <a:r>
              <a:rPr sz="1425" b="1">
                <a:solidFill>
                  <a:srgbClr val="D24A45"/>
                </a:solidFill>
                <a:latin typeface="Arial"/>
                <a:ea typeface="Arial"/>
                <a:cs typeface="Arial"/>
              </a:rPr>
              <a:t>−2,36</a:t>
            </a: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4E32DB46-E676-4A91-B7B4-0351A3F9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20955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B4000"/>
              </a:buClr>
              <a:buSzPts val="1050"/>
              <a:buFont typeface="Arial"/>
              <a:buNone/>
            </a:pPr>
            <a:r>
              <a:rPr sz="1050" b="1">
                <a:solidFill>
                  <a:srgbClr val="CB4000"/>
                </a:solidFill>
                <a:latin typeface="Arial"/>
                <a:ea typeface="Arial"/>
                <a:cs typeface="Arial"/>
              </a:rPr>
              <a:t>Ниже операционной линии</a:t>
            </a:r>
          </a:p>
        </p:txBody>
      </p:sp>
      <p:sp>
        <p:nvSpPr>
          <p:cNvPr id="112" name="Google Shape;112;p6">
            <a:extLst xmlns:a="http://schemas.openxmlformats.org/drawingml/2006/main">
              <a:ext uri="{FF2B5EF4-FFF2-40B4-BE49-F238E27FC236}">
                <a16:creationId xmlns:a16="http://schemas.microsoft.com/office/drawing/2014/main" id="{82165694-AA52-4A5D-B621-849348E5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721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125"/>
              <a:buFont typeface="Arial"/>
              <a:buNone/>
            </a:pPr>
            <a:r>
              <a:rPr sz="11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выплаты учредителям: 6,04 млн ₽ (Q4'25) · инвестиции в разработку: 5,19 млн ₽ (янв–май'26)</a:t>
            </a:r>
          </a:p>
        </p:txBody>
      </p:sp>
      <p:cxnSp>
        <p:nvCxnSpPr>
          <p:cNvPr id="277" name="Google Shape;113;p6"/>
          <p:cNvCxnSpPr/>
          <p:nvPr/>
        </p:nvCxn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082414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5" name="Google Shape;119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7d9d76414242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85750"/>
            <a:ext cx="10668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0" name="Google Shape;120;p7">
            <a:extLst xmlns:a="http://schemas.openxmlformats.org/drawingml/2006/main">
              <a:ext uri="{FF2B5EF4-FFF2-40B4-BE49-F238E27FC236}">
                <a16:creationId xmlns:a16="http://schemas.microsoft.com/office/drawing/2014/main" id="{EFF48FAA-56E7-4A9E-AD5F-6792AC7E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31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900"/>
              <a:buFont typeface="Arial"/>
              <a:buNone/>
            </a:pPr>
            <a:r>
              <a:rPr sz="900" b="1">
                <a:solidFill>
                  <a:srgbClr val="FF570A"/>
                </a:solidFill>
              </a:rPr>
              <a:t>ПРОДАЖИ И ОТВАЛЫ</a:t>
            </a:r>
          </a:p>
        </p:txBody>
      </p:sp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A7C0450B-728F-4DC2-AF90-1F5B0FD0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907"/>
              <a:buFont typeface="Arial"/>
              <a:buNone/>
            </a:pPr>
            <a:r>
              <a:rPr sz="1908" b="1">
                <a:solidFill>
                  <a:srgbClr val="2E2B24"/>
                </a:solidFill>
              </a:rPr>
              <a:t>I полугодие 2026: чистый годовой тариф снизился на 54%; число полных отвалов выросло с 3 до 4</a:t>
            </a:r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056DF2F8-B75C-4E3C-A91B-99221E51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</a:rPr>
              <a:t>05</a:t>
            </a: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4997B4C7-7B4A-4662-83AD-B61430F3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350"/>
              <a:buFont typeface="Arial"/>
              <a:buNone/>
            </a:pPr>
            <a:r>
              <a:rPr sz="1350">
                <a:solidFill>
                  <a:srgbClr val="6E685B"/>
                </a:solidFill>
              </a:rPr>
              <a:t>Сопоставимый период: январь–июнь. Клиент = уникальный ID в админке.</a:t>
            </a: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BE0B4E76-64D9-400D-8B40-E4A9F33D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77000" cy="33147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9ADAFED7-CC63-4341-8D7A-4AB66C51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5277000" cy="33147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423ED2A9-8C6E-465D-9330-6EE60C9C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190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B4000"/>
              </a:buClr>
              <a:buSzPts val="975"/>
              <a:buFont typeface="Arial"/>
              <a:buNone/>
            </a:pPr>
            <a:r>
              <a:rPr sz="975" b="1">
                <a:solidFill>
                  <a:srgbClr val="CB4000"/>
                </a:solidFill>
              </a:rPr>
              <a:t>ЯНВАРЬ–ИЮНЬ 2025</a:t>
            </a: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68BF9CB2-3F30-4EE3-8C60-71915727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19350"/>
            <a:ext cx="1809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</a:rPr>
              <a:t>ЯНВАРЬ–ИЮНЬ 2026</a:t>
            </a:r>
          </a:p>
        </p:txBody>
      </p:sp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0091F9FC-8425-43C9-9242-011AB417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>
                <a:solidFill>
                  <a:srgbClr val="6E685B"/>
                </a:solidFill>
              </a:rPr>
              <a:t>Новые клиенты</a:t>
            </a:r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16B72995-08D0-4DB8-9B7D-7F6EC492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956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</a:rPr>
              <a:t>6</a:t>
            </a:r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EDA5D1CA-6450-4220-B341-0360E9DA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>
                <a:solidFill>
                  <a:srgbClr val="6E685B"/>
                </a:solidFill>
              </a:rPr>
              <a:t>Новые клиенты</a:t>
            </a: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861EA2DB-75ED-46DD-A2F4-88507184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8956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</a:rPr>
              <a:t>4</a:t>
            </a:r>
          </a:p>
        </p:txBody>
      </p:sp>
      <p:cxnSp>
        <p:nvCxnSpPr>
          <p:cNvPr id="298" name="Google Shape;132;p7"/>
          <p:cNvCxnSpPr/>
          <p:nvPr/>
        </p:nvCxnSpPr>
        <p:spPr>
          <a:xfrm xmlns:a="http://schemas.openxmlformats.org/drawingml/2006/main">
            <a:off x="952500" y="32385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9" name="Google Shape;133;p7"/>
          <p:cNvCxnSpPr/>
          <p:nvPr/>
        </p:nvCxnSpPr>
        <p:spPr>
          <a:xfrm xmlns:a="http://schemas.openxmlformats.org/drawingml/2006/main">
            <a:off x="6496050" y="32385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22881C55-D964-4ED2-A8E0-6C51A591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>
                <a:solidFill>
                  <a:srgbClr val="6E685B"/>
                </a:solidFill>
              </a:rPr>
              <a:t>Годовой тариф новых</a:t>
            </a: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30225216-E193-449D-B38E-E07172D1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3528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</a:rPr>
              <a:t>+2,28</a:t>
            </a:r>
          </a:p>
        </p:txBody>
      </p:sp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427F9698-C4DD-4B38-B2D9-C302F17C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>
                <a:solidFill>
                  <a:srgbClr val="6E685B"/>
                </a:solidFill>
              </a:rPr>
              <a:t>Годовой тариф новых</a:t>
            </a: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13CCA490-4216-4D70-A9C8-FA2FF27E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3528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</a:rPr>
              <a:t>+1,21</a:t>
            </a:r>
          </a:p>
        </p:txBody>
      </p:sp>
      <p:cxnSp>
        <p:nvCxnSpPr>
          <p:cNvPr id="304" name="Google Shape;138;p7"/>
          <p:cNvCxnSpPr/>
          <p:nvPr/>
        </p:nvCxnSpPr>
        <p:spPr>
          <a:xfrm xmlns:a="http://schemas.openxmlformats.org/drawingml/2006/main">
            <a:off x="952500" y="36957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5" name="Google Shape;139;p7"/>
          <p:cNvCxnSpPr/>
          <p:nvPr/>
        </p:nvCxnSpPr>
        <p:spPr>
          <a:xfrm xmlns:a="http://schemas.openxmlformats.org/drawingml/2006/main">
            <a:off x="6496050" y="36957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7">
            <a:extLst xmlns:a="http://schemas.openxmlformats.org/drawingml/2006/main">
              <a:ext uri="{FF2B5EF4-FFF2-40B4-BE49-F238E27FC236}">
                <a16:creationId xmlns:a16="http://schemas.microsoft.com/office/drawing/2014/main" id="{4CAD0316-3825-48FA-B5BA-A317094D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1">
                <a:solidFill>
                  <a:srgbClr val="6E685B"/>
                </a:solidFill>
              </a:rPr>
              <a:t>Полные отвалы</a:t>
            </a:r>
          </a:p>
        </p:txBody>
      </p:sp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6D94A654-D377-4551-A89B-8C37D05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100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</a:rPr>
              <a:t>3</a:t>
            </a:r>
          </a:p>
        </p:txBody>
      </p:sp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BDCF0798-AF93-436B-8BD4-452729DE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1">
                <a:solidFill>
                  <a:srgbClr val="6E685B"/>
                </a:solidFill>
              </a:rPr>
              <a:t>Полные отвалы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0A3D9190-8C2E-4016-B228-DD66997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00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</a:rPr>
              <a:t>4</a:t>
            </a:r>
          </a:p>
        </p:txBody>
      </p:sp>
      <p:cxnSp>
        <p:nvCxnSpPr>
          <p:cNvPr id="310" name="Google Shape;144;p7"/>
          <p:cNvCxnSpPr/>
          <p:nvPr/>
        </p:nvCxnSpPr>
        <p:spPr>
          <a:xfrm xmlns:a="http://schemas.openxmlformats.org/drawingml/2006/main">
            <a:off x="952500" y="41529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" name="Google Shape;145;p7"/>
          <p:cNvCxnSpPr/>
          <p:nvPr/>
        </p:nvCxnSpPr>
        <p:spPr>
          <a:xfrm xmlns:a="http://schemas.openxmlformats.org/drawingml/2006/main">
            <a:off x="6496050" y="41529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4897068B-3D19-4B04-9472-E18AD9DD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1">
                <a:solidFill>
                  <a:srgbClr val="6E685B"/>
                </a:solidFill>
              </a:rPr>
              <a:t>Годовой тариф отвалов</a:t>
            </a: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25BF3C72-51B1-4A59-9982-AF1D1C98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672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</a:rPr>
              <a:t>−0,40</a:t>
            </a: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5AD7C389-5415-4C7A-A2AA-E48CA71F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1">
                <a:solidFill>
                  <a:srgbClr val="6E685B"/>
                </a:solidFill>
              </a:rPr>
              <a:t>Годовой тариф отвалов</a:t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6CE5AA43-36AD-462C-BEEE-2E924822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2672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25"/>
              <a:buFont typeface="Arial"/>
              <a:buNone/>
            </a:pPr>
            <a:r>
              <a:rPr sz="1425" b="1">
                <a:solidFill>
                  <a:srgbClr val="2E2B24"/>
                </a:solidFill>
              </a:rPr>
              <a:t>−0,35</a:t>
            </a:r>
          </a:p>
        </p:txBody>
      </p:sp>
      <p:cxnSp>
        <p:nvCxnSpPr>
          <p:cNvPr id="316" name="Google Shape;150;p7"/>
          <p:cNvCxnSpPr/>
          <p:nvPr/>
        </p:nvCxnSpPr>
        <p:spPr>
          <a:xfrm xmlns:a="http://schemas.openxmlformats.org/drawingml/2006/main">
            <a:off x="952500" y="46101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7" name="Google Shape;151;p7"/>
          <p:cNvCxnSpPr/>
          <p:nvPr/>
        </p:nvCxnSpPr>
        <p:spPr>
          <a:xfrm xmlns:a="http://schemas.openxmlformats.org/drawingml/2006/main">
            <a:off x="6496050" y="4610100"/>
            <a:ext cx="474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E9FEBBF9-B0B3-46F6-AD53-3F36B643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200"/>
              <a:buFont typeface="Arial"/>
              <a:buNone/>
            </a:pPr>
            <a:r>
              <a:rPr sz="1200" b="1">
                <a:solidFill>
                  <a:srgbClr val="2E2B24"/>
                </a:solidFill>
              </a:rPr>
              <a:t>Чистый годовой тариф</a:t>
            </a:r>
          </a:p>
        </p:txBody>
      </p:sp>
      <p:sp>
        <p:nvSpPr>
          <p:cNvPr id="153" name="Google Shape;153;p7">
            <a:extLst xmlns:a="http://schemas.openxmlformats.org/drawingml/2006/main">
              <a:ext uri="{FF2B5EF4-FFF2-40B4-BE49-F238E27FC236}">
                <a16:creationId xmlns:a16="http://schemas.microsoft.com/office/drawing/2014/main" id="{BD958D9B-8B4F-4B7D-B9E4-53BEC15A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7244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A64E"/>
              </a:buClr>
              <a:buSzPts val="1425"/>
              <a:buFont typeface="Arial"/>
              <a:buNone/>
            </a:pPr>
            <a:r>
              <a:rPr sz="1425" b="1">
                <a:solidFill>
                  <a:srgbClr val="3AA64E"/>
                </a:solidFill>
              </a:rPr>
              <a:t>+1,89</a:t>
            </a:r>
          </a:p>
        </p:txBody>
      </p:sp>
      <p:sp>
        <p:nvSpPr>
          <p:cNvPr id="154" name="Google Shape;154;p7">
            <a:extLst xmlns:a="http://schemas.openxmlformats.org/drawingml/2006/main">
              <a:ext uri="{FF2B5EF4-FFF2-40B4-BE49-F238E27FC236}">
                <a16:creationId xmlns:a16="http://schemas.microsoft.com/office/drawing/2014/main" id="{BFC670BD-D65B-4FA6-A94F-314DFC1E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24400"/>
            <a:ext cx="27624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200"/>
              <a:buFont typeface="Arial"/>
              <a:buNone/>
            </a:pPr>
            <a:r>
              <a:rPr sz="1200" b="1">
                <a:solidFill>
                  <a:srgbClr val="2E2B24"/>
                </a:solidFill>
              </a:rPr>
              <a:t>Чистый годовой тариф</a:t>
            </a:r>
          </a:p>
        </p:txBody>
      </p:sp>
      <p:sp>
        <p:nvSpPr>
          <p:cNvPr id="155" name="Google Shape;155;p7">
            <a:extLst xmlns:a="http://schemas.openxmlformats.org/drawingml/2006/main">
              <a:ext uri="{FF2B5EF4-FFF2-40B4-BE49-F238E27FC236}">
                <a16:creationId xmlns:a16="http://schemas.microsoft.com/office/drawing/2014/main" id="{7C5F8813-54FE-4713-A7E9-EDBCB306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724400"/>
            <a:ext cx="1428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24A45"/>
              </a:buClr>
              <a:buSzPts val="1425"/>
              <a:buFont typeface="Arial"/>
              <a:buNone/>
            </a:pPr>
            <a:r>
              <a:rPr sz="1425" b="1">
                <a:solidFill>
                  <a:srgbClr val="30A545"/>
                </a:solidFill>
              </a:rPr>
              <a:t>+0,87</a:t>
            </a:r>
          </a:p>
        </p:txBody>
      </p:sp>
      <p:sp>
        <p:nvSpPr>
          <p:cNvPr id="156" name="Google Shape;156;p7">
            <a:extLst xmlns:a="http://schemas.openxmlformats.org/drawingml/2006/main">
              <a:ext uri="{FF2B5EF4-FFF2-40B4-BE49-F238E27FC236}">
                <a16:creationId xmlns:a16="http://schemas.microsoft.com/office/drawing/2014/main" id="{489CF3CC-B815-4261-A4C4-C8469107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20955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B4000"/>
              </a:buClr>
              <a:buSzPts val="1050"/>
              <a:buFont typeface="Arial"/>
              <a:buNone/>
            </a:pPr>
            <a:r>
              <a:rPr sz="1050" b="1">
                <a:solidFill>
                  <a:srgbClr val="CB4000"/>
                </a:solidFill>
              </a:rPr>
              <a:t>Полный год / текущий срез</a:t>
            </a:r>
          </a:p>
        </p:txBody>
      </p:sp>
      <p:sp>
        <p:nvSpPr>
          <p:cNvPr id="157" name="Google Shape;157;p7">
            <a:extLst xmlns:a="http://schemas.openxmlformats.org/drawingml/2006/main">
              <a:ext uri="{FF2B5EF4-FFF2-40B4-BE49-F238E27FC236}">
                <a16:creationId xmlns:a16="http://schemas.microsoft.com/office/drawing/2014/main" id="{38836C5C-299F-4E28-86A6-C4B8DC40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721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125"/>
              <a:buFont typeface="Arial"/>
              <a:buNone/>
            </a:pPr>
            <a:r>
              <a:t>2025: 13 новых клиентов · 2026 на 16.07: 5 новых клиентов</a:t>
            </a:r>
          </a:p>
        </p:txBody>
      </p:sp>
      <p:cxnSp>
        <p:nvCxnSpPr>
          <p:cNvPr id="324" name="Google Shape;158;p7"/>
          <p:cNvCxnSpPr/>
          <p:nvPr/>
        </p:nvCxn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7">
            <a:extLst xmlns:a="http://schemas.openxmlformats.org/drawingml/2006/main">
              <a:ext uri="{FF2B5EF4-FFF2-40B4-BE49-F238E27FC236}">
                <a16:creationId xmlns:a16="http://schemas.microsoft.com/office/drawing/2014/main" id="{7B443CF7-4C69-4AFF-9345-7C830D8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Источник: live Мегатаблица / «Клиенты», проверено 16.07.2026</a:t>
            </a:r>
          </a:p>
        </p:txBody>
      </p:sp>
      <p:sp>
        <p:nvSpPr>
          <p:cNvPr id="160" name="Google Shape;160;p7">
            <a:extLst xmlns:a="http://schemas.openxmlformats.org/drawingml/2006/main">
              <a:ext uri="{FF2B5EF4-FFF2-40B4-BE49-F238E27FC236}">
                <a16:creationId xmlns:a16="http://schemas.microsoft.com/office/drawing/2014/main" id="{84604BE5-14F8-4A81-A5CB-76741F6B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5320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825"/>
              <a:buFont typeface="Arial"/>
              <a:buNone/>
            </a:pPr>
            <a:r>
              <a:rPr sz="825">
                <a:solidFill>
                  <a:srgbClr val="6E685B"/>
                </a:solidFill>
              </a:rPr>
              <a:t>млн ₽ · годовой тариф = текущий MRR × 12</a:t>
            </a:r>
          </a:p>
        </p:txBody>
      </p:sp>
    </p:spTree>
    <p:extLst>
      <p:ext uri="{BB962C8B-B14F-4D97-AF65-F5344CB8AC3E}">
        <p14:creationId xmlns:p14="http://schemas.microsoft.com/office/powerpoint/2010/main" val="713987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" name="Google Shape;166;p8">
            <a:extLst xmlns:a="http://schemas.openxmlformats.org/drawingml/2006/main">
              <a:ext uri="{FF2B5EF4-FFF2-40B4-BE49-F238E27FC236}">
                <a16:creationId xmlns:a16="http://schemas.microsoft.com/office/drawing/2014/main" id="{20D4E165-D8F4-4322-9C4B-F3F4BDE2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219875"/>
            <a:ext cx="7650900" cy="3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60" b="1">
                <a:solidFill>
                  <a:srgbClr val="FF570A"/>
                </a:solidFill>
              </a:rPr>
              <a:t>ДЕЙСТВУЮЩАЯ БАЗА</a:t>
            </a:r>
          </a:p>
        </p:txBody>
      </p:sp>
      <p:sp>
        <p:nvSpPr>
          <p:cNvPr id="167" name="Google Shape;167;p8">
            <a:extLst xmlns:a="http://schemas.openxmlformats.org/drawingml/2006/main">
              <a:ext uri="{FF2B5EF4-FFF2-40B4-BE49-F238E27FC236}">
                <a16:creationId xmlns:a16="http://schemas.microsoft.com/office/drawing/2014/main" id="{ECE4777E-FCBD-4D66-B377-D19F7707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0770" y="190132"/>
            <a:ext cx="3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736E63"/>
                </a:solidFill>
              </a:rPr>
              <a:t>06</a:t>
            </a:r>
          </a:p>
        </p:txBody>
      </p:sp>
      <p:sp>
        <p:nvSpPr>
          <p:cNvPr id="168" name="Google Shape;168;p8">
            <a:extLst xmlns:a="http://schemas.openxmlformats.org/drawingml/2006/main">
              <a:ext uri="{FF2B5EF4-FFF2-40B4-BE49-F238E27FC236}">
                <a16:creationId xmlns:a16="http://schemas.microsoft.com/office/drawing/2014/main" id="{E6154AE3-3545-40E3-A869-0BB4ADAC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00" y="602126"/>
            <a:ext cx="11937600" cy="11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11" b="1">
                <a:solidFill>
                  <a:srgbClr val="292729"/>
                </a:solidFill>
              </a:rPr>
              <a:t>159 активных клиентов: ближайший резерв — удержание и тарифный апсейл</a:t>
            </a:r>
          </a:p>
        </p:txBody>
      </p:sp>
      <p:sp>
        <p:nvSpPr>
          <p:cNvPr id="169" name="Google Shape;169;p8">
            <a:extLst xmlns:a="http://schemas.openxmlformats.org/drawingml/2006/main">
              <a:ext uri="{FF2B5EF4-FFF2-40B4-BE49-F238E27FC236}">
                <a16:creationId xmlns:a16="http://schemas.microsoft.com/office/drawing/2014/main" id="{365D3210-F984-4DD1-9D57-A4AD6457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0" y="2187053"/>
            <a:ext cx="3520200" cy="2856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0" name="Google Shape;170;p8">
            <a:extLst xmlns:a="http://schemas.openxmlformats.org/drawingml/2006/main">
              <a:ext uri="{FF2B5EF4-FFF2-40B4-BE49-F238E27FC236}">
                <a16:creationId xmlns:a16="http://schemas.microsoft.com/office/drawing/2014/main" id="{761196AA-6C66-4440-A847-6CDF94AA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904" y="3015275"/>
            <a:ext cx="1106100" cy="56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905" b="1">
                <a:solidFill>
                  <a:srgbClr val="FF570A"/>
                </a:solidFill>
              </a:rPr>
              <a:t>159</a:t>
            </a:r>
          </a:p>
        </p:txBody>
      </p:sp>
      <p:sp>
        <p:nvSpPr>
          <p:cNvPr id="171" name="Google Shape;171;p8">
            <a:extLst xmlns:a="http://schemas.openxmlformats.org/drawingml/2006/main">
              <a:ext uri="{FF2B5EF4-FFF2-40B4-BE49-F238E27FC236}">
                <a16:creationId xmlns:a16="http://schemas.microsoft.com/office/drawing/2014/main" id="{64E71177-2A48-4D7A-B94A-FAB2E761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56" y="3612034"/>
            <a:ext cx="2907900" cy="45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1">
                <a:solidFill>
                  <a:srgbClr val="736E63"/>
                </a:solidFill>
              </a:rPr>
              <a:t>активных клиентов</a:t>
            </a:r>
          </a:p>
        </p:txBody>
      </p:sp>
      <p:sp>
        <p:nvSpPr>
          <p:cNvPr id="172" name="Google Shape;172;p8">
            <a:extLst xmlns:a="http://schemas.openxmlformats.org/drawingml/2006/main">
              <a:ext uri="{FF2B5EF4-FFF2-40B4-BE49-F238E27FC236}">
                <a16:creationId xmlns:a16="http://schemas.microsoft.com/office/drawing/2014/main" id="{D938BF56-8B29-4FEA-B8BB-63DB01CC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152" y="2107228"/>
            <a:ext cx="3520200" cy="2856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3" name="Google Shape;173;p8">
            <a:extLst xmlns:a="http://schemas.openxmlformats.org/drawingml/2006/main">
              <a:ext uri="{FF2B5EF4-FFF2-40B4-BE49-F238E27FC236}">
                <a16:creationId xmlns:a16="http://schemas.microsoft.com/office/drawing/2014/main" id="{123B4DA5-0ADE-4E40-B86B-CAAAB6C0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034" y="2454275"/>
            <a:ext cx="1106100" cy="56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905" b="1">
                <a:solidFill>
                  <a:srgbClr val="FF570A"/>
                </a:solidFill>
              </a:rPr>
              <a:t>60</a:t>
            </a:r>
          </a:p>
        </p:txBody>
      </p:sp>
      <p:sp>
        <p:nvSpPr>
          <p:cNvPr id="174" name="Google Shape;174;p8">
            <a:extLst xmlns:a="http://schemas.openxmlformats.org/drawingml/2006/main">
              <a:ext uri="{FF2B5EF4-FFF2-40B4-BE49-F238E27FC236}">
                <a16:creationId xmlns:a16="http://schemas.microsoft.com/office/drawing/2014/main" id="{FD668F22-77B6-4A40-B43B-ABADC3C2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29" y="3066125"/>
            <a:ext cx="1341900" cy="45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1">
                <a:solidFill>
                  <a:srgbClr val="736E63"/>
                </a:solidFill>
              </a:rPr>
              <a:t>сервисных УК</a:t>
            </a:r>
          </a:p>
        </p:txBody>
      </p:sp>
      <p:sp>
        <p:nvSpPr>
          <p:cNvPr id="175" name="Google Shape;175;p8">
            <a:extLst xmlns:a="http://schemas.openxmlformats.org/drawingml/2006/main">
              <a:ext uri="{FF2B5EF4-FFF2-40B4-BE49-F238E27FC236}">
                <a16:creationId xmlns:a16="http://schemas.microsoft.com/office/drawing/2014/main" id="{3F723096-FFB6-4F34-B5B0-63C8E800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602" y="3452300"/>
            <a:ext cx="2032200" cy="32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74" b="1">
                <a:solidFill>
                  <a:srgbClr val="292729"/>
                </a:solidFill>
              </a:rPr>
              <a:t>Ключевой сегмент</a:t>
            </a:r>
          </a:p>
        </p:txBody>
      </p:sp>
      <p:sp>
        <p:nvSpPr>
          <p:cNvPr id="176" name="Google Shape;176;p8">
            <a:extLst xmlns:a="http://schemas.openxmlformats.org/drawingml/2006/main">
              <a:ext uri="{FF2B5EF4-FFF2-40B4-BE49-F238E27FC236}">
                <a16:creationId xmlns:a16="http://schemas.microsoft.com/office/drawing/2014/main" id="{C5F60144-A7A3-4142-9803-49312188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595" y="3907967"/>
            <a:ext cx="2907900" cy="69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3">
                <a:solidFill>
                  <a:srgbClr val="736E63"/>
                </a:solidFill>
              </a:rPr>
              <a:t>Рабочий сегмент: активное МП + робот/диспетчерская; 43% MRR. Критерий нужно закрепить в методике.</a:t>
            </a:r>
          </a:p>
        </p:txBody>
      </p:sp>
      <p:sp>
        <p:nvSpPr>
          <p:cNvPr id="177" name="Google Shape;177;p8">
            <a:extLst xmlns:a="http://schemas.openxmlformats.org/drawingml/2006/main">
              <a:ext uri="{FF2B5EF4-FFF2-40B4-BE49-F238E27FC236}">
                <a16:creationId xmlns:a16="http://schemas.microsoft.com/office/drawing/2014/main" id="{BFC96186-8F58-48F1-93B9-D75D92EA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453" y="2107228"/>
            <a:ext cx="3520200" cy="2856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8" name="Google Shape;178;p8">
            <a:extLst xmlns:a="http://schemas.openxmlformats.org/drawingml/2006/main">
              <a:ext uri="{FF2B5EF4-FFF2-40B4-BE49-F238E27FC236}">
                <a16:creationId xmlns:a16="http://schemas.microsoft.com/office/drawing/2014/main" id="{15286BB0-995F-4D93-8D2D-3F58F7CD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FF570A"/>
                </a:solidFill>
              </a:defRPr>
            </a:pPr>
            <a:r>
              <a:rPr sz="2100" b="1">
                <a:solidFill>
                  <a:srgbClr val="FF570A"/>
                </a:solidFill>
              </a:rPr>
              <a:t>15,5 / 33,7</a:t>
            </a:r>
          </a:p>
        </p:txBody>
      </p:sp>
      <p:sp>
        <p:nvSpPr>
          <p:cNvPr id="179" name="Google Shape;179;p8">
            <a:extLst xmlns:a="http://schemas.openxmlformats.org/drawingml/2006/main">
              <a:ext uri="{FF2B5EF4-FFF2-40B4-BE49-F238E27FC236}">
                <a16:creationId xmlns:a16="http://schemas.microsoft.com/office/drawing/2014/main" id="{DE88EF81-EC27-40E1-AF56-58095DC0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50" y="3309325"/>
            <a:ext cx="2529000" cy="45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1">
                <a:solidFill>
                  <a:srgbClr val="736E63"/>
                </a:solidFill>
              </a:rPr>
              <a:t>Сервис 15,5 тыс. ₽ · ЭКСП 33,7 тыс. ₽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1">
                <a:solidFill>
                  <a:srgbClr val="736E63"/>
                </a:solidFill>
              </a:rPr>
              <a:t>136 / 18 активных клиентов</a:t>
            </a:r>
          </a:p>
        </p:txBody>
      </p:sp>
      <p:sp>
        <p:nvSpPr>
          <p:cNvPr id="180" name="Google Shape;180;p8">
            <a:extLst xmlns:a="http://schemas.openxmlformats.org/drawingml/2006/main">
              <a:ext uri="{FF2B5EF4-FFF2-40B4-BE49-F238E27FC236}">
                <a16:creationId xmlns:a16="http://schemas.microsoft.com/office/drawing/2014/main" id="{A1B4F749-40CC-4187-919A-085E63E3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0" y="5341543"/>
            <a:ext cx="12090300" cy="765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27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1" name="Google Shape;181;p8">
            <a:extLst xmlns:a="http://schemas.openxmlformats.org/drawingml/2006/main">
              <a:ext uri="{FF2B5EF4-FFF2-40B4-BE49-F238E27FC236}">
                <a16:creationId xmlns:a16="http://schemas.microsoft.com/office/drawing/2014/main" id="{E4037097-A496-4524-AB7E-70D5DC84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25" y="5494575"/>
            <a:ext cx="2346600" cy="34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6" b="1">
                <a:solidFill>
                  <a:srgbClr val="FF570A"/>
                </a:solidFill>
              </a:rPr>
              <a:t>Почему клиенты уходят</a:t>
            </a:r>
          </a:p>
        </p:txBody>
      </p:sp>
      <p:sp>
        <p:nvSpPr>
          <p:cNvPr id="182" name="Google Shape;182;p8">
            <a:extLst xmlns:a="http://schemas.openxmlformats.org/drawingml/2006/main">
              <a:ext uri="{FF2B5EF4-FFF2-40B4-BE49-F238E27FC236}">
                <a16:creationId xmlns:a16="http://schemas.microsoft.com/office/drawing/2014/main" id="{29AF67F6-D95A-4A9D-B7BB-D677C0BF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500" y="5494575"/>
            <a:ext cx="9590700" cy="56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61" b="1">
                <a:solidFill>
                  <a:srgbClr val="FFFFFF"/>
                </a:solidFill>
              </a:rPr>
              <a:t>Сбой робота/диспетчерской и пропуск аварий · нет 24/7 или проблемы телефонии · не закрыта нужная функция либо интеграция.</a:t>
            </a:r>
          </a:p>
        </p:txBody>
      </p:sp>
      <p:sp>
        <p:nvSpPr>
          <p:cNvPr id="183" name="Google Shape;183;p8">
            <a:extLst xmlns:a="http://schemas.openxmlformats.org/drawingml/2006/main">
              <a:ext uri="{FF2B5EF4-FFF2-40B4-BE49-F238E27FC236}">
                <a16:creationId xmlns:a16="http://schemas.microsoft.com/office/drawing/2014/main" id="{7393CB1F-25DA-4E89-BEF7-3BF36380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0" y="6463825"/>
            <a:ext cx="11109900" cy="45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025" tIns="102025" rIns="102025" bIns="1020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48" b="1">
                <a:solidFill>
                  <a:srgbClr val="736E63"/>
                </a:solidFill>
              </a:rPr>
              <a:t>Источники: live Мегатаблица 16.07.2026 · звонки робота 04.2026 · итоговый срез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509349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Google Shape;189;p9">
            <a:extLst xmlns:a="http://schemas.openxmlformats.org/drawingml/2006/main">
              <a:ext uri="{FF2B5EF4-FFF2-40B4-BE49-F238E27FC236}">
                <a16:creationId xmlns:a16="http://schemas.microsoft.com/office/drawing/2014/main" id="{6A0DF968-A31F-477D-8F93-E13B52C9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090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5" b="1">
                <a:solidFill>
                  <a:srgbClr val="FF570A"/>
                </a:solidFill>
              </a:rPr>
              <a:t>ПОСЛЕ ЗАЩИТЫ ПРОВЕЛИ ИССЛЕДОВАНИЕ</a:t>
            </a:r>
          </a:p>
        </p:txBody>
      </p:sp>
      <p:sp>
        <p:nvSpPr>
          <p:cNvPr id="190" name="Google Shape;190;p9">
            <a:extLst xmlns:a="http://schemas.openxmlformats.org/drawingml/2006/main">
              <a:ext uri="{FF2B5EF4-FFF2-40B4-BE49-F238E27FC236}">
                <a16:creationId xmlns:a16="http://schemas.microsoft.com/office/drawing/2014/main" id="{5505D8B5-78CF-483E-BF6D-27E63AD8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325" y="205919"/>
            <a:ext cx="338700" cy="24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5" b="1">
                <a:solidFill>
                  <a:srgbClr val="736E63"/>
                </a:solidFill>
              </a:rPr>
              <a:t>07</a:t>
            </a:r>
          </a:p>
        </p:txBody>
      </p:sp>
      <p:sp>
        <p:nvSpPr>
          <p:cNvPr id="191" name="Google Shape;191;p9">
            <a:extLst xmlns:a="http://schemas.openxmlformats.org/drawingml/2006/main">
              <a:ext uri="{FF2B5EF4-FFF2-40B4-BE49-F238E27FC236}">
                <a16:creationId xmlns:a16="http://schemas.microsoft.com/office/drawing/2014/main" id="{EE013CC8-3E17-4864-95A9-F5E8A732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" y="715750"/>
            <a:ext cx="11843100" cy="77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E2B24"/>
                </a:solidFill>
              </a:defRPr>
            </a:pPr>
            <a:r>
              <a:rPr sz="2250" b="1">
                <a:solidFill>
                  <a:srgbClr val="2E2B24"/>
                </a:solidFill>
              </a:rPr>
              <a:t>22 интервью + AI-аудит &gt;2 000 отказов</a:t>
            </a:r>
          </a:p>
        </p:txBody>
      </p:sp>
      <p:sp>
        <p:nvSpPr>
          <p:cNvPr id="192" name="Google Shape;192;p9">
            <a:extLst xmlns:a="http://schemas.openxmlformats.org/drawingml/2006/main">
              <a:ext uri="{FF2B5EF4-FFF2-40B4-BE49-F238E27FC236}">
                <a16:creationId xmlns:a16="http://schemas.microsoft.com/office/drawing/2014/main" id="{98CB3DB1-4F69-4595-A1F4-BC73080C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5" y="2010000"/>
            <a:ext cx="7209000" cy="3009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3" name="Google Shape;193;p9">
            <a:extLst xmlns:a="http://schemas.openxmlformats.org/drawingml/2006/main">
              <a:ext uri="{FF2B5EF4-FFF2-40B4-BE49-F238E27FC236}">
                <a16:creationId xmlns:a16="http://schemas.microsoft.com/office/drawing/2014/main" id="{B0AE77F8-AECF-42CC-8072-D99E8CB8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08" y="2304147"/>
            <a:ext cx="1354800" cy="5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9" b="1">
                <a:solidFill>
                  <a:srgbClr val="FF570A"/>
                </a:solidFill>
              </a:rPr>
              <a:t>22</a:t>
            </a:r>
          </a:p>
        </p:txBody>
      </p:sp>
      <p:sp>
        <p:nvSpPr>
          <p:cNvPr id="194" name="Google Shape;194;p9">
            <a:extLst xmlns:a="http://schemas.openxmlformats.org/drawingml/2006/main">
              <a:ext uri="{FF2B5EF4-FFF2-40B4-BE49-F238E27FC236}">
                <a16:creationId xmlns:a16="http://schemas.microsoft.com/office/drawing/2014/main" id="{7BB53AF6-6E55-4DC7-959E-6A5C83A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737" y="2412000"/>
            <a:ext cx="4903800" cy="31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7" b="1">
                <a:solidFill>
                  <a:srgbClr val="292729"/>
                </a:solidFill>
              </a:rPr>
              <a:t>участника исследования</a:t>
            </a:r>
          </a:p>
        </p:txBody>
      </p:sp>
      <p:sp>
        <p:nvSpPr>
          <p:cNvPr id="195" name="Google Shape;195;p9">
            <a:extLst xmlns:a="http://schemas.openxmlformats.org/drawingml/2006/main">
              <a:ext uri="{FF2B5EF4-FFF2-40B4-BE49-F238E27FC236}">
                <a16:creationId xmlns:a16="http://schemas.microsoft.com/office/drawing/2014/main" id="{C92DBEA8-EDB6-4B37-9EEF-3DCA7A5E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08" y="2961055"/>
            <a:ext cx="5709000" cy="3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6" name="Google Shape;196;p9">
            <a:extLst xmlns:a="http://schemas.openxmlformats.org/drawingml/2006/main">
              <a:ext uri="{FF2B5EF4-FFF2-40B4-BE49-F238E27FC236}">
                <a16:creationId xmlns:a16="http://schemas.microsoft.com/office/drawing/2014/main" id="{E1578DCD-5FC6-459B-AC6A-FA837825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08" y="3480699"/>
            <a:ext cx="43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99" b="1">
                <a:solidFill>
                  <a:srgbClr val="FF570A"/>
                </a:solidFill>
              </a:rPr>
              <a:t>8</a:t>
            </a:r>
          </a:p>
        </p:txBody>
      </p:sp>
      <p:sp>
        <p:nvSpPr>
          <p:cNvPr id="197" name="Google Shape;197;p9">
            <a:extLst xmlns:a="http://schemas.openxmlformats.org/drawingml/2006/main">
              <a:ext uri="{FF2B5EF4-FFF2-40B4-BE49-F238E27FC236}">
                <a16:creationId xmlns:a16="http://schemas.microsoft.com/office/drawing/2014/main" id="{3132CD71-18EC-4107-AA70-1E8C6F53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14" y="3480699"/>
            <a:ext cx="1257900" cy="24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7" b="1">
                <a:solidFill>
                  <a:srgbClr val="292729"/>
                </a:solidFill>
              </a:rPr>
              <a:t>экспертов сервисных УК Москвы</a:t>
            </a:r>
          </a:p>
        </p:txBody>
      </p:sp>
      <p:sp>
        <p:nvSpPr>
          <p:cNvPr id="198" name="Google Shape;198;p9">
            <a:extLst xmlns:a="http://schemas.openxmlformats.org/drawingml/2006/main">
              <a:ext uri="{FF2B5EF4-FFF2-40B4-BE49-F238E27FC236}">
                <a16:creationId xmlns:a16="http://schemas.microsoft.com/office/drawing/2014/main" id="{6E57A289-5D7F-4BDA-8780-A9C0881A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569" y="3480699"/>
            <a:ext cx="1354800" cy="3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1">
                <a:solidFill>
                  <a:srgbClr val="736E63"/>
                </a:solidFill>
              </a:rPr>
              <a:t>6 руководителей УК + 2 отраслевых эксперта</a:t>
            </a:r>
          </a:p>
        </p:txBody>
      </p:sp>
      <p:sp>
        <p:nvSpPr>
          <p:cNvPr id="199" name="Google Shape;199;p9">
            <a:extLst xmlns:a="http://schemas.openxmlformats.org/drawingml/2006/main">
              <a:ext uri="{FF2B5EF4-FFF2-40B4-BE49-F238E27FC236}">
                <a16:creationId xmlns:a16="http://schemas.microsoft.com/office/drawing/2014/main" id="{FA40AD42-C4C7-4F61-88D0-BD751418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510" y="3480699"/>
            <a:ext cx="43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99" b="1">
                <a:solidFill>
                  <a:srgbClr val="FF570A"/>
                </a:solidFill>
              </a:rPr>
              <a:t>4</a:t>
            </a:r>
          </a:p>
        </p:txBody>
      </p:sp>
      <p:sp>
        <p:nvSpPr>
          <p:cNvPr id="200" name="Google Shape;200;p9">
            <a:extLst xmlns:a="http://schemas.openxmlformats.org/drawingml/2006/main">
              <a:ext uri="{FF2B5EF4-FFF2-40B4-BE49-F238E27FC236}">
                <a16:creationId xmlns:a16="http://schemas.microsoft.com/office/drawing/2014/main" id="{2164C1F7-2E51-4814-A734-C4366FE8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325" y="3480701"/>
            <a:ext cx="1257900" cy="49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7" b="1">
                <a:solidFill>
                  <a:srgbClr val="292729"/>
                </a:solidFill>
              </a:rPr>
              <a:t>новых клиента МДО</a:t>
            </a:r>
          </a:p>
        </p:txBody>
      </p:sp>
      <p:sp>
        <p:nvSpPr>
          <p:cNvPr id="201" name="Google Shape;201;p9">
            <a:extLst xmlns:a="http://schemas.openxmlformats.org/drawingml/2006/main">
              <a:ext uri="{FF2B5EF4-FFF2-40B4-BE49-F238E27FC236}">
                <a16:creationId xmlns:a16="http://schemas.microsoft.com/office/drawing/2014/main" id="{17E7C98F-4C2A-4BF7-B4E3-3374819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08" y="4167022"/>
            <a:ext cx="43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99" b="1">
                <a:solidFill>
                  <a:srgbClr val="FF570A"/>
                </a:solidFill>
              </a:rPr>
              <a:t>6</a:t>
            </a:r>
          </a:p>
        </p:txBody>
      </p:sp>
      <p:sp>
        <p:nvSpPr>
          <p:cNvPr id="202" name="Google Shape;202;p9">
            <a:extLst xmlns:a="http://schemas.openxmlformats.org/drawingml/2006/main">
              <a:ext uri="{FF2B5EF4-FFF2-40B4-BE49-F238E27FC236}">
                <a16:creationId xmlns:a16="http://schemas.microsoft.com/office/drawing/2014/main" id="{E9B86047-0648-4DCD-99B8-1A82B3C3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14" y="4167022"/>
            <a:ext cx="1257900" cy="24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7" b="1">
                <a:solidFill>
                  <a:srgbClr val="292729"/>
                </a:solidFill>
              </a:rPr>
              <a:t>клиентов, отказавшихся от покупки</a:t>
            </a:r>
          </a:p>
        </p:txBody>
      </p:sp>
      <p:sp>
        <p:nvSpPr>
          <p:cNvPr id="203" name="Google Shape;203;p9">
            <a:extLst xmlns:a="http://schemas.openxmlformats.org/drawingml/2006/main">
              <a:ext uri="{FF2B5EF4-FFF2-40B4-BE49-F238E27FC236}">
                <a16:creationId xmlns:a16="http://schemas.microsoft.com/office/drawing/2014/main" id="{62F764AA-B1AA-458D-BAD6-2244550B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510" y="4167022"/>
            <a:ext cx="43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99" b="1">
                <a:solidFill>
                  <a:srgbClr val="FF570A"/>
                </a:solidFill>
              </a:rPr>
              <a:t>4</a:t>
            </a:r>
          </a:p>
        </p:txBody>
      </p:sp>
      <p:sp>
        <p:nvSpPr>
          <p:cNvPr id="204" name="Google Shape;204;p9">
            <a:extLst xmlns:a="http://schemas.openxmlformats.org/drawingml/2006/main">
              <a:ext uri="{FF2B5EF4-FFF2-40B4-BE49-F238E27FC236}">
                <a16:creationId xmlns:a16="http://schemas.microsoft.com/office/drawing/2014/main" id="{14C9B386-D232-4B40-85FB-A2429423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325" y="4167025"/>
            <a:ext cx="2077200" cy="41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7" b="1">
                <a:solidFill>
                  <a:srgbClr val="292729"/>
                </a:solidFill>
              </a:rPr>
              <a:t>ушедших клиента МДО</a:t>
            </a:r>
          </a:p>
        </p:txBody>
      </p:sp>
      <p:sp>
        <p:nvSpPr>
          <p:cNvPr id="205" name="Google Shape;205;p9">
            <a:extLst xmlns:a="http://schemas.openxmlformats.org/drawingml/2006/main">
              <a:ext uri="{FF2B5EF4-FFF2-40B4-BE49-F238E27FC236}">
                <a16:creationId xmlns:a16="http://schemas.microsoft.com/office/drawing/2014/main" id="{D85EDC7F-2805-48F8-BB06-8747AAD8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339" y="2010009"/>
            <a:ext cx="4015500" cy="2892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27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6" name="Google Shape;206;p9">
            <a:extLst xmlns:a="http://schemas.openxmlformats.org/drawingml/2006/main">
              <a:ext uri="{FF2B5EF4-FFF2-40B4-BE49-F238E27FC236}">
                <a16:creationId xmlns:a16="http://schemas.microsoft.com/office/drawing/2014/main" id="{8805027C-5F91-4581-B06B-9B7F275A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600" y="353175"/>
            <a:ext cx="3171000" cy="148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570A"/>
                </a:solidFill>
              </a:rPr>
              <a:t>Рынок шире нескольких поставщиков</a:t>
            </a:r>
          </a:p>
        </p:txBody>
      </p:sp>
      <p:sp>
        <p:nvSpPr>
          <p:cNvPr id="207" name="Google Shape;207;p9">
            <a:extLst xmlns:a="http://schemas.openxmlformats.org/drawingml/2006/main">
              <a:ext uri="{FF2B5EF4-FFF2-40B4-BE49-F238E27FC236}">
                <a16:creationId xmlns:a16="http://schemas.microsoft.com/office/drawing/2014/main" id="{C1A785FC-600F-41BE-8C1D-F25B68A4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601" y="2431648"/>
            <a:ext cx="2999400" cy="3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81" b="1">
                <a:solidFill>
                  <a:srgbClr val="FFFFFF"/>
                </a:solidFill>
              </a:rPr>
              <a:t>более 2 000 причин отказов в AI-аудите CRM</a:t>
            </a:r>
          </a:p>
        </p:txBody>
      </p:sp>
      <p:sp>
        <p:nvSpPr>
          <p:cNvPr id="208" name="Google Shape;208;p9">
            <a:extLst xmlns:a="http://schemas.openxmlformats.org/drawingml/2006/main">
              <a:ext uri="{FF2B5EF4-FFF2-40B4-BE49-F238E27FC236}">
                <a16:creationId xmlns:a16="http://schemas.microsoft.com/office/drawing/2014/main" id="{02D404D4-C318-4A00-87D7-4B4141DE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601" y="3147607"/>
            <a:ext cx="1935300" cy="31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5" b="1">
                <a:solidFill>
                  <a:srgbClr val="FFFFFF"/>
                </a:solidFill>
              </a:rPr>
              <a:t>1 567 · 63,1%</a:t>
            </a:r>
          </a:p>
        </p:txBody>
      </p:sp>
      <p:sp>
        <p:nvSpPr>
          <p:cNvPr id="209" name="Google Shape;209;p9">
            <a:extLst xmlns:a="http://schemas.openxmlformats.org/drawingml/2006/main">
              <a:ext uri="{FF2B5EF4-FFF2-40B4-BE49-F238E27FC236}">
                <a16:creationId xmlns:a16="http://schemas.microsoft.com/office/drawing/2014/main" id="{17E4B3DC-F3EF-4272-8C4C-119E7F7F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7801" y="3544295"/>
            <a:ext cx="2999400" cy="37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1">
                <a:solidFill>
                  <a:srgbClr val="E3E0DB"/>
                </a:solidFill>
              </a:rPr>
              <a:t>сохранили собственный или ручной процесс</a:t>
            </a:r>
          </a:p>
        </p:txBody>
      </p:sp>
      <p:sp>
        <p:nvSpPr>
          <p:cNvPr id="210" name="Google Shape;210;p9">
            <a:extLst xmlns:a="http://schemas.openxmlformats.org/drawingml/2006/main">
              <a:ext uri="{FF2B5EF4-FFF2-40B4-BE49-F238E27FC236}">
                <a16:creationId xmlns:a16="http://schemas.microsoft.com/office/drawing/2014/main" id="{7CAABA84-28B8-4290-953C-26756745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51" y="3926812"/>
            <a:ext cx="3047700" cy="3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1">
                <a:solidFill>
                  <a:srgbClr val="E3E0DB"/>
                </a:solidFill>
              </a:rPr>
              <a:t>543 · 21,9% — «конкурент» без точного поставщика</a:t>
            </a:r>
          </a:p>
        </p:txBody>
      </p:sp>
      <p:sp>
        <p:nvSpPr>
          <p:cNvPr id="211" name="Google Shape;211;p9">
            <a:extLst xmlns:a="http://schemas.openxmlformats.org/drawingml/2006/main">
              <a:ext uri="{FF2B5EF4-FFF2-40B4-BE49-F238E27FC236}">
                <a16:creationId xmlns:a16="http://schemas.microsoft.com/office/drawing/2014/main" id="{356B63B9-A4A1-4A23-AB78-4D2AA98B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825" y="5072875"/>
            <a:ext cx="5640900" cy="1162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81"/>
              <a:t>63,1% — доля зафиксированных причин отказа в CRM МДО, а не оценка доли рынка.</a:t>
            </a:r>
          </a:p>
        </p:txBody>
      </p:sp>
      <p:sp>
        <p:nvSpPr>
          <p:cNvPr id="212" name="Google Shape;212;p9">
            <a:extLst xmlns:a="http://schemas.openxmlformats.org/drawingml/2006/main">
              <a:ext uri="{FF2B5EF4-FFF2-40B4-BE49-F238E27FC236}">
                <a16:creationId xmlns:a16="http://schemas.microsoft.com/office/drawing/2014/main" id="{D7FB86E2-F06C-4AF5-819A-6B463063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00" y="6235751"/>
            <a:ext cx="85149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6750" tIns="96750" rIns="96750" bIns="967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736E63"/>
                </a:solidFill>
              </a:rPr>
              <a:t>Источники: итоговый срез исследования 10.06.2026 · интервью четырех групп · AI-аудит Bitrix</a:t>
            </a:r>
          </a:p>
        </p:txBody>
      </p:sp>
    </p:spTree>
    <p:extLst>
      <p:ext uri="{BB962C8B-B14F-4D97-AF65-F5344CB8AC3E}">
        <p14:creationId xmlns:p14="http://schemas.microsoft.com/office/powerpoint/2010/main" val="911472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8" name="Google Shape;218;p10">
            <a:extLst xmlns:a="http://schemas.openxmlformats.org/drawingml/2006/main">
              <a:ext uri="{FF2B5EF4-FFF2-40B4-BE49-F238E27FC236}">
                <a16:creationId xmlns:a16="http://schemas.microsoft.com/office/drawing/2014/main" id="{52A1AC60-997C-44D2-9B63-CC076C7E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25" y="274325"/>
            <a:ext cx="3871800" cy="3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9" b="1">
                <a:solidFill>
                  <a:srgbClr val="FF570A"/>
                </a:solidFill>
              </a:rPr>
              <a:t>ЧТО ПОКАЗАЛО ИССЛЕДОВАНИЕ</a:t>
            </a:r>
          </a:p>
        </p:txBody>
      </p:sp>
      <p:sp>
        <p:nvSpPr>
          <p:cNvPr id="219" name="Google Shape;219;p10">
            <a:extLst xmlns:a="http://schemas.openxmlformats.org/drawingml/2006/main">
              <a:ext uri="{FF2B5EF4-FFF2-40B4-BE49-F238E27FC236}">
                <a16:creationId xmlns:a16="http://schemas.microsoft.com/office/drawing/2014/main" id="{BF6926C5-23DE-417E-9285-683B661E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00" y="580027"/>
            <a:ext cx="11921400" cy="8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7" b="1">
                <a:solidFill>
                  <a:srgbClr val="292729"/>
                </a:solidFill>
              </a:rPr>
              <a:t>Три сопоставимых вывода: почему покупают, почему отказываются, что требует целевой сегмент</a:t>
            </a:r>
          </a:p>
        </p:txBody>
      </p:sp>
      <p:sp>
        <p:nvSpPr>
          <p:cNvPr id="220" name="Google Shape;220;p10">
            <a:extLst xmlns:a="http://schemas.openxmlformats.org/drawingml/2006/main">
              <a:ext uri="{FF2B5EF4-FFF2-40B4-BE49-F238E27FC236}">
                <a16:creationId xmlns:a16="http://schemas.microsoft.com/office/drawing/2014/main" id="{881CACEA-5FCC-47B8-9400-C4A54DD9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34" y="1547979"/>
            <a:ext cx="11819400" cy="40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1">
                <a:solidFill>
                  <a:srgbClr val="736E63"/>
                </a:solidFill>
              </a:rPr>
              <a:t>Каждый вывод относится к своей выборке. 63,1% — причины отказа в CRM МДО, не доля рынка.</a:t>
            </a:r>
          </a:p>
        </p:txBody>
      </p:sp>
      <p:sp>
        <p:nvSpPr>
          <p:cNvPr id="221" name="Google Shape;221;p10">
            <a:extLst xmlns:a="http://schemas.openxmlformats.org/drawingml/2006/main">
              <a:ext uri="{FF2B5EF4-FFF2-40B4-BE49-F238E27FC236}">
                <a16:creationId xmlns:a16="http://schemas.microsoft.com/office/drawing/2014/main" id="{85029E48-FC2F-455D-828E-D023B9BA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34" y="2159329"/>
            <a:ext cx="3515400" cy="3209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2" name="Google Shape;222;p10">
            <a:extLst xmlns:a="http://schemas.openxmlformats.org/drawingml/2006/main">
              <a:ext uri="{FF2B5EF4-FFF2-40B4-BE49-F238E27FC236}">
                <a16:creationId xmlns:a16="http://schemas.microsoft.com/office/drawing/2014/main" id="{940DE552-8A5D-429C-907B-8E76154C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31" y="2495572"/>
            <a:ext cx="2852700" cy="3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93" b="1">
                <a:solidFill>
                  <a:srgbClr val="FF570A"/>
                </a:solidFill>
              </a:rPr>
              <a:t>Почему покупают МДО</a:t>
            </a:r>
          </a:p>
        </p:txBody>
      </p:sp>
      <p:sp>
        <p:nvSpPr>
          <p:cNvPr id="223" name="Google Shape;223;p10">
            <a:extLst xmlns:a="http://schemas.openxmlformats.org/drawingml/2006/main">
              <a:ext uri="{FF2B5EF4-FFF2-40B4-BE49-F238E27FC236}">
                <a16:creationId xmlns:a16="http://schemas.microsoft.com/office/drawing/2014/main" id="{761F3337-49AA-47B0-AD9B-2D314170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5" y="3082251"/>
            <a:ext cx="2955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736E63"/>
                </a:solidFill>
              </a:rPr>
              <a:t>• понятная диспетчеризация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736E63"/>
                </a:solidFill>
              </a:rPr>
              <a:t>• экспертный запуск и поддержка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736E63"/>
                </a:solidFill>
              </a:rPr>
              <a:t>• конкурентный тариф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736E63"/>
                </a:solidFill>
              </a:rPr>
              <a:t>• робот разгружает типовые обращения и обзвон</a:t>
            </a:r>
          </a:p>
        </p:txBody>
      </p:sp>
      <p:sp>
        <p:nvSpPr>
          <p:cNvPr id="224" name="Google Shape;224;p10">
            <a:extLst xmlns:a="http://schemas.openxmlformats.org/drawingml/2006/main">
              <a:ext uri="{FF2B5EF4-FFF2-40B4-BE49-F238E27FC236}">
                <a16:creationId xmlns:a16="http://schemas.microsoft.com/office/drawing/2014/main" id="{29810CB6-214C-444A-996D-7D8006AE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617" y="2159329"/>
            <a:ext cx="3515400" cy="3209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5" name="Google Shape;225;p10">
            <a:extLst xmlns:a="http://schemas.openxmlformats.org/drawingml/2006/main">
              <a:ext uri="{FF2B5EF4-FFF2-40B4-BE49-F238E27FC236}">
                <a16:creationId xmlns:a16="http://schemas.microsoft.com/office/drawing/2014/main" id="{A67DC528-C105-4BB4-A4A2-0591DA18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915" y="2495572"/>
            <a:ext cx="2852700" cy="3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93" b="1">
                <a:solidFill>
                  <a:srgbClr val="FF570A"/>
                </a:solidFill>
              </a:rPr>
              <a:t>Почему отказываются</a:t>
            </a:r>
          </a:p>
        </p:txBody>
      </p:sp>
      <p:sp>
        <p:nvSpPr>
          <p:cNvPr id="226" name="Google Shape;226;p10">
            <a:extLst xmlns:a="http://schemas.openxmlformats.org/drawingml/2006/main">
              <a:ext uri="{FF2B5EF4-FFF2-40B4-BE49-F238E27FC236}">
                <a16:creationId xmlns:a16="http://schemas.microsoft.com/office/drawing/2014/main" id="{C5A031D4-8952-4A74-A878-5224AC25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925" y="3005026"/>
            <a:ext cx="2955000" cy="205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736E63"/>
                </a:solidFill>
              </a:rPr>
              <a:t>• 63,1% сохраняют свой процесс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736E63"/>
                </a:solidFill>
              </a:rPr>
              <a:t>• Excel / 1С / Bitrix / живой диспетчер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736E63"/>
                </a:solidFill>
              </a:rPr>
              <a:t>• «дорого», если отличие не доказано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736E63"/>
                </a:solidFill>
              </a:rPr>
              <a:t>• риск сложного перехода</a:t>
            </a:r>
          </a:p>
        </p:txBody>
      </p:sp>
      <p:sp>
        <p:nvSpPr>
          <p:cNvPr id="227" name="Google Shape;227;p10">
            <a:extLst xmlns:a="http://schemas.openxmlformats.org/drawingml/2006/main">
              <a:ext uri="{FF2B5EF4-FFF2-40B4-BE49-F238E27FC236}">
                <a16:creationId xmlns:a16="http://schemas.microsoft.com/office/drawing/2014/main" id="{E451BD44-F9A3-4352-912F-3EEFEF1C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700" y="2159329"/>
            <a:ext cx="3515400" cy="3209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27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" name="Google Shape;228;p10">
            <a:extLst xmlns:a="http://schemas.openxmlformats.org/drawingml/2006/main">
              <a:ext uri="{FF2B5EF4-FFF2-40B4-BE49-F238E27FC236}">
                <a16:creationId xmlns:a16="http://schemas.microsoft.com/office/drawing/2014/main" id="{9B81F693-9714-474D-8BE9-CD6A40D4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023" y="2352785"/>
            <a:ext cx="2852700" cy="30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93" b="1">
                <a:solidFill>
                  <a:srgbClr val="FF570A"/>
                </a:solidFill>
              </a:rPr>
              <a:t>Что требует целевой клиент</a:t>
            </a:r>
          </a:p>
        </p:txBody>
      </p:sp>
      <p:sp>
        <p:nvSpPr>
          <p:cNvPr id="229" name="Google Shape;229;p10">
            <a:extLst xmlns:a="http://schemas.openxmlformats.org/drawingml/2006/main">
              <a:ext uri="{FF2B5EF4-FFF2-40B4-BE49-F238E27FC236}">
                <a16:creationId xmlns:a16="http://schemas.microsoft.com/office/drawing/2014/main" id="{26BCAC1A-88D0-4EB6-9141-00D5D964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825" y="2765614"/>
            <a:ext cx="2955000" cy="205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E3E0DB"/>
                </a:solidFill>
              </a:rPr>
              <a:t>• единое окно и гибкость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E3E0DB"/>
                </a:solidFill>
              </a:rPr>
              <a:t>• ГИС ЖКХ / 1С без двойной работы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E3E0DB"/>
                </a:solidFill>
              </a:rPr>
              <a:t>• удобное приложение жителя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48">
                <a:solidFill>
                  <a:srgbClr val="E3E0DB"/>
                </a:solidFill>
              </a:rPr>
              <a:t>• AI-диспетчер, который консультирует</a:t>
            </a:r>
          </a:p>
        </p:txBody>
      </p:sp>
      <p:sp>
        <p:nvSpPr>
          <p:cNvPr id="230" name="Google Shape;230;p10">
            <a:extLst xmlns:a="http://schemas.openxmlformats.org/drawingml/2006/main">
              <a:ext uri="{FF2B5EF4-FFF2-40B4-BE49-F238E27FC236}">
                <a16:creationId xmlns:a16="http://schemas.microsoft.com/office/drawing/2014/main" id="{65BF4CA0-DCDE-4DC8-8AFC-E0A40F42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25" y="5479550"/>
            <a:ext cx="12074400" cy="1378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875" tIns="101875" rIns="101875" bIns="101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60"/>
              <a:t>Ключевой вывод: робот создает спрос только при доказанной надежности и качестве консультации. Иначе тот же модуль становится причиной оттока.</a:t>
            </a:r>
          </a:p>
        </p:txBody>
      </p:sp>
    </p:spTree>
    <p:extLst>
      <p:ext uri="{BB962C8B-B14F-4D97-AF65-F5344CB8AC3E}">
        <p14:creationId xmlns:p14="http://schemas.microsoft.com/office/powerpoint/2010/main" val="1510132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6" name="Google Shape;236;p11">
            <a:extLst xmlns:a="http://schemas.openxmlformats.org/drawingml/2006/main">
              <a:ext uri="{FF2B5EF4-FFF2-40B4-BE49-F238E27FC236}">
                <a16:creationId xmlns:a16="http://schemas.microsoft.com/office/drawing/2014/main" id="{4912DD0D-969D-4460-9572-649354FF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83464"/>
            <a:ext cx="36576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7" name="Google Shape;237;p11">
            <a:extLst xmlns:a="http://schemas.openxmlformats.org/drawingml/2006/main">
              <a:ext uri="{FF2B5EF4-FFF2-40B4-BE49-F238E27FC236}">
                <a16:creationId xmlns:a16="http://schemas.microsoft.com/office/drawing/2014/main" id="{BA6B8F4E-70AD-4375-BACB-1B0F852E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274320"/>
            <a:ext cx="3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736E63"/>
                </a:solidFill>
              </a:rPr>
              <a:t>09</a:t>
            </a:r>
          </a:p>
        </p:txBody>
      </p:sp>
      <p:sp>
        <p:nvSpPr>
          <p:cNvPr id="238" name="Google Shape;238;p11">
            <a:extLst xmlns:a="http://schemas.openxmlformats.org/drawingml/2006/main">
              <a:ext uri="{FF2B5EF4-FFF2-40B4-BE49-F238E27FC236}">
                <a16:creationId xmlns:a16="http://schemas.microsoft.com/office/drawing/2014/main" id="{C7CA8F88-FCF7-4699-9C35-AB10C16B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00" y="276470"/>
            <a:ext cx="10698600" cy="93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292729"/>
                </a:solidFill>
              </a:rPr>
              <a:t>Четыре направления, которые напрямую следуют из исследования</a:t>
            </a:r>
          </a:p>
        </p:txBody>
      </p:sp>
      <p:sp>
        <p:nvSpPr>
          <p:cNvPr id="239" name="Google Shape;239;p11">
            <a:extLst xmlns:a="http://schemas.openxmlformats.org/drawingml/2006/main">
              <a:ext uri="{FF2B5EF4-FFF2-40B4-BE49-F238E27FC236}">
                <a16:creationId xmlns:a16="http://schemas.microsoft.com/office/drawing/2014/main" id="{BC5456F8-7240-4F33-A4D2-F7F08D48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45" y="1121950"/>
            <a:ext cx="125391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>
                <a:solidFill>
                  <a:srgbClr val="736E63"/>
                </a:solidFill>
              </a:rPr>
              <a:t>Приоритет задается подтвержденным клиентским риском или спросом.</a:t>
            </a:r>
          </a:p>
        </p:txBody>
      </p:sp>
      <p:sp>
        <p:nvSpPr>
          <p:cNvPr id="240" name="Google Shape;240;p11">
            <a:extLst xmlns:a="http://schemas.openxmlformats.org/drawingml/2006/main">
              <a:ext uri="{FF2B5EF4-FFF2-40B4-BE49-F238E27FC236}">
                <a16:creationId xmlns:a16="http://schemas.microsoft.com/office/drawing/2014/main" id="{E7C430AD-9F6A-4B95-9F46-6EC2BAC0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0" y="1568093"/>
            <a:ext cx="11491800" cy="804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27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1" name="Google Shape;241;p11">
            <a:extLst xmlns:a="http://schemas.openxmlformats.org/drawingml/2006/main">
              <a:ext uri="{FF2B5EF4-FFF2-40B4-BE49-F238E27FC236}">
                <a16:creationId xmlns:a16="http://schemas.microsoft.com/office/drawing/2014/main" id="{4FCCF173-3395-4E6D-AF67-1EE6B7C4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37" y="1751867"/>
            <a:ext cx="3263700" cy="5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9">
                <a:solidFill>
                  <a:srgbClr val="E3E0DB"/>
                </a:solidFill>
              </a:rPr>
              <a:t>1. Надежность сервиса</a:t>
            </a:r>
          </a:p>
        </p:txBody>
      </p:sp>
      <p:sp>
        <p:nvSpPr>
          <p:cNvPr id="242" name="Google Shape;242;p11">
            <a:extLst xmlns:a="http://schemas.openxmlformats.org/drawingml/2006/main">
              <a:ext uri="{FF2B5EF4-FFF2-40B4-BE49-F238E27FC236}">
                <a16:creationId xmlns:a16="http://schemas.microsoft.com/office/drawing/2014/main" id="{8486BDED-E182-429A-88CB-E983660D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746" y="1728891"/>
            <a:ext cx="3119400" cy="5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95" b="1">
                <a:solidFill>
                  <a:srgbClr val="FFFFFF"/>
                </a:solidFill>
              </a:rPr>
              <a:t>Риск: пропущенная авария или недоступный канал</a:t>
            </a:r>
          </a:p>
        </p:txBody>
      </p:sp>
      <p:sp>
        <p:nvSpPr>
          <p:cNvPr id="243" name="Google Shape;243;p11">
            <a:extLst xmlns:a="http://schemas.openxmlformats.org/drawingml/2006/main">
              <a:ext uri="{FF2B5EF4-FFF2-40B4-BE49-F238E27FC236}">
                <a16:creationId xmlns:a16="http://schemas.microsoft.com/office/drawing/2014/main" id="{2ED6358D-F4B5-46BD-BF21-CB3C4576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091" y="1705928"/>
            <a:ext cx="3899100" cy="4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48">
                <a:solidFill>
                  <a:srgbClr val="E3E0DB"/>
                </a:solidFill>
              </a:rPr>
              <a:t>Действие: uptime, ошибки, аварийный маршрут, владелец реакции</a:t>
            </a:r>
          </a:p>
        </p:txBody>
      </p:sp>
      <p:sp>
        <p:nvSpPr>
          <p:cNvPr id="244" name="Google Shape;244;p11">
            <a:extLst xmlns:a="http://schemas.openxmlformats.org/drawingml/2006/main">
              <a:ext uri="{FF2B5EF4-FFF2-40B4-BE49-F238E27FC236}">
                <a16:creationId xmlns:a16="http://schemas.microsoft.com/office/drawing/2014/main" id="{902F6453-030E-4EF7-BD99-8611EBA3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0" y="2509970"/>
            <a:ext cx="11546700" cy="804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5" name="Google Shape;245;p11">
            <a:extLst xmlns:a="http://schemas.openxmlformats.org/drawingml/2006/main">
              <a:ext uri="{FF2B5EF4-FFF2-40B4-BE49-F238E27FC236}">
                <a16:creationId xmlns:a16="http://schemas.microsoft.com/office/drawing/2014/main" id="{78B25F13-77F5-4CB0-A3F1-67434337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90" y="2524695"/>
            <a:ext cx="3699600" cy="7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9">
                <a:solidFill>
                  <a:srgbClr val="736E63"/>
                </a:solidFill>
              </a:rPr>
              <a:t>2. Робот-диспетчер</a:t>
            </a:r>
          </a:p>
        </p:txBody>
      </p:sp>
      <p:sp>
        <p:nvSpPr>
          <p:cNvPr id="246" name="Google Shape;246;p11">
            <a:extLst xmlns:a="http://schemas.openxmlformats.org/drawingml/2006/main">
              <a:ext uri="{FF2B5EF4-FFF2-40B4-BE49-F238E27FC236}">
                <a16:creationId xmlns:a16="http://schemas.microsoft.com/office/drawing/2014/main" id="{71E5A2BD-6C71-413E-8DD6-129B91D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774" y="2590372"/>
            <a:ext cx="3119400" cy="8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95" b="1">
                <a:solidFill>
                  <a:srgbClr val="292729"/>
                </a:solidFill>
              </a:rPr>
              <a:t>Спрос: разгрузка типовых обращений и консультация, а не автоответчик</a:t>
            </a:r>
          </a:p>
        </p:txBody>
      </p:sp>
      <p:sp>
        <p:nvSpPr>
          <p:cNvPr id="247" name="Google Shape;247;p11">
            <a:extLst xmlns:a="http://schemas.openxmlformats.org/drawingml/2006/main">
              <a:ext uri="{FF2B5EF4-FFF2-40B4-BE49-F238E27FC236}">
                <a16:creationId xmlns:a16="http://schemas.microsoft.com/office/drawing/2014/main" id="{1691087B-B112-4D93-8FF8-361649A9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091" y="2647796"/>
            <a:ext cx="3899100" cy="4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8" name="Google Shape;248;p11">
            <a:extLst xmlns:a="http://schemas.openxmlformats.org/drawingml/2006/main">
              <a:ext uri="{FF2B5EF4-FFF2-40B4-BE49-F238E27FC236}">
                <a16:creationId xmlns:a16="http://schemas.microsoft.com/office/drawing/2014/main" id="{AE18F33E-38A3-4496-A88B-A41B638F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0" y="3451822"/>
            <a:ext cx="11656500" cy="804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9" name="Google Shape;249;p11">
            <a:extLst xmlns:a="http://schemas.openxmlformats.org/drawingml/2006/main">
              <a:ext uri="{FF2B5EF4-FFF2-40B4-BE49-F238E27FC236}">
                <a16:creationId xmlns:a16="http://schemas.microsoft.com/office/drawing/2014/main" id="{274C1A00-B179-4CF3-B31D-A9043C9C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37" y="3635590"/>
            <a:ext cx="3263700" cy="6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9">
                <a:solidFill>
                  <a:srgbClr val="736E63"/>
                </a:solidFill>
              </a:rPr>
              <a:t>Действие: улучшать текущего робота и проверить AI-сценарий на пилоте</a:t>
            </a:r>
          </a:p>
        </p:txBody>
      </p:sp>
      <p:sp>
        <p:nvSpPr>
          <p:cNvPr id="250" name="Google Shape;250;p11">
            <a:extLst xmlns:a="http://schemas.openxmlformats.org/drawingml/2006/main">
              <a:ext uri="{FF2B5EF4-FFF2-40B4-BE49-F238E27FC236}">
                <a16:creationId xmlns:a16="http://schemas.microsoft.com/office/drawing/2014/main" id="{5D556EF8-A47B-4FAB-A063-CD0B974D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746" y="3532234"/>
            <a:ext cx="3359400" cy="6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95" b="1">
                <a:solidFill>
                  <a:srgbClr val="292729"/>
                </a:solidFill>
              </a:rPr>
              <a:t>Консультации → затем голос; тендерные требования — критерии продукта</a:t>
            </a:r>
          </a:p>
        </p:txBody>
      </p:sp>
      <p:sp>
        <p:nvSpPr>
          <p:cNvPr id="251" name="Google Shape;251;p11">
            <a:extLst xmlns:a="http://schemas.openxmlformats.org/drawingml/2006/main">
              <a:ext uri="{FF2B5EF4-FFF2-40B4-BE49-F238E27FC236}">
                <a16:creationId xmlns:a16="http://schemas.microsoft.com/office/drawing/2014/main" id="{472C2F45-D3F6-406F-813C-CF552599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091" y="3589664"/>
            <a:ext cx="3899100" cy="4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48">
                <a:solidFill>
                  <a:srgbClr val="736E63"/>
                </a:solidFill>
              </a:rPr>
              <a:t>Есть интерес к пилоту; масштабирование — после SLA</a:t>
            </a:r>
          </a:p>
        </p:txBody>
      </p:sp>
      <p:sp>
        <p:nvSpPr>
          <p:cNvPr id="252" name="Google Shape;252;p11">
            <a:extLst xmlns:a="http://schemas.openxmlformats.org/drawingml/2006/main">
              <a:ext uri="{FF2B5EF4-FFF2-40B4-BE49-F238E27FC236}">
                <a16:creationId xmlns:a16="http://schemas.microsoft.com/office/drawing/2014/main" id="{564831CA-E414-4B13-8313-102F8705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0" y="4393698"/>
            <a:ext cx="11656500" cy="804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3" name="Google Shape;253;p11">
            <a:extLst xmlns:a="http://schemas.openxmlformats.org/drawingml/2006/main">
              <a:ext uri="{FF2B5EF4-FFF2-40B4-BE49-F238E27FC236}">
                <a16:creationId xmlns:a16="http://schemas.microsoft.com/office/drawing/2014/main" id="{3B7211B0-58DF-49B8-A2B1-78EB0F3C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37" y="4577472"/>
            <a:ext cx="3263700" cy="5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9">
                <a:solidFill>
                  <a:srgbClr val="736E63"/>
                </a:solidFill>
              </a:rPr>
              <a:t>3. Расчетный центр</a:t>
            </a:r>
          </a:p>
        </p:txBody>
      </p:sp>
      <p:sp>
        <p:nvSpPr>
          <p:cNvPr id="254" name="Google Shape;254;p11">
            <a:extLst xmlns:a="http://schemas.openxmlformats.org/drawingml/2006/main">
              <a:ext uri="{FF2B5EF4-FFF2-40B4-BE49-F238E27FC236}">
                <a16:creationId xmlns:a16="http://schemas.microsoft.com/office/drawing/2014/main" id="{C7595FB7-1404-4502-847D-303D0D9C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217" y="4454598"/>
            <a:ext cx="34479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95" b="1">
                <a:solidFill>
                  <a:srgbClr val="292729"/>
                </a:solidFill>
              </a:rPr>
              <a:t>Спрос: биллинг 15 ₽ · содержание 20 ₽ · полный расчет 40 ₽/ЛС</a:t>
            </a:r>
          </a:p>
        </p:txBody>
      </p:sp>
      <p:sp>
        <p:nvSpPr>
          <p:cNvPr id="255" name="Google Shape;255;p11">
            <a:extLst xmlns:a="http://schemas.openxmlformats.org/drawingml/2006/main">
              <a:ext uri="{FF2B5EF4-FFF2-40B4-BE49-F238E27FC236}">
                <a16:creationId xmlns:a16="http://schemas.microsoft.com/office/drawing/2014/main" id="{3D208419-872D-4C5D-9D89-31B0BC3E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105" y="4531521"/>
            <a:ext cx="3899100" cy="6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48">
                <a:solidFill>
                  <a:srgbClr val="736E63"/>
                </a:solidFill>
              </a:rPr>
              <a:t>Действие: пилот, контрольный расчет, ГИС ЖКХ, затем продажи</a:t>
            </a:r>
          </a:p>
        </p:txBody>
      </p:sp>
      <p:sp>
        <p:nvSpPr>
          <p:cNvPr id="256" name="Google Shape;256;p11">
            <a:extLst xmlns:a="http://schemas.openxmlformats.org/drawingml/2006/main">
              <a:ext uri="{FF2B5EF4-FFF2-40B4-BE49-F238E27FC236}">
                <a16:creationId xmlns:a16="http://schemas.microsoft.com/office/drawing/2014/main" id="{4EC0D257-7A99-478C-B1CD-29E036EE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0" y="6105111"/>
            <a:ext cx="12027000" cy="551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27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7" name="Google Shape;257;p11">
            <a:extLst xmlns:a="http://schemas.openxmlformats.org/drawingml/2006/main">
              <a:ext uri="{FF2B5EF4-FFF2-40B4-BE49-F238E27FC236}">
                <a16:creationId xmlns:a16="http://schemas.microsoft.com/office/drawing/2014/main" id="{1DA2E4BA-EE4E-470A-A825-829234CE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77" y="6173918"/>
            <a:ext cx="11265600" cy="2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5" b="1">
                <a:solidFill>
                  <a:srgbClr val="FFFFFF"/>
                </a:solidFill>
              </a:rPr>
              <a:t>Фокус рынка: Россия → сервисные УК Москвы и РСО.</a:t>
            </a:r>
          </a:p>
        </p:txBody>
      </p:sp>
      <p:sp>
        <p:nvSpPr>
          <p:cNvPr id="258" name="Google Shape;258;p11">
            <a:extLst xmlns:a="http://schemas.openxmlformats.org/drawingml/2006/main">
              <a:ext uri="{FF2B5EF4-FFF2-40B4-BE49-F238E27FC236}">
                <a16:creationId xmlns:a16="http://schemas.microsoft.com/office/drawing/2014/main" id="{0CC800A8-C10F-423A-95CA-79BC0E52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97" y="5329800"/>
            <a:ext cx="11546700" cy="643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9" name="Google Shape;259;p11">
            <a:extLst xmlns:a="http://schemas.openxmlformats.org/drawingml/2006/main">
              <a:ext uri="{FF2B5EF4-FFF2-40B4-BE49-F238E27FC236}">
                <a16:creationId xmlns:a16="http://schemas.microsoft.com/office/drawing/2014/main" id="{356C75BE-3507-43DF-946A-11EF261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27" y="5375699"/>
            <a:ext cx="3263700" cy="5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9">
                <a:solidFill>
                  <a:srgbClr val="736E63"/>
                </a:solidFill>
              </a:rPr>
              <a:t>4. Интеграция с ГИС ЖКХ</a:t>
            </a:r>
          </a:p>
        </p:txBody>
      </p:sp>
      <p:sp>
        <p:nvSpPr>
          <p:cNvPr id="260" name="Google Shape;260;p11">
            <a:extLst xmlns:a="http://schemas.openxmlformats.org/drawingml/2006/main">
              <a:ext uri="{FF2B5EF4-FFF2-40B4-BE49-F238E27FC236}">
                <a16:creationId xmlns:a16="http://schemas.microsoft.com/office/drawing/2014/main" id="{57C04C65-B0DC-4006-A12C-1776F4CB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746" y="5377550"/>
            <a:ext cx="46419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95" b="1">
                <a:solidFill>
                  <a:srgbClr val="292729"/>
                </a:solidFill>
              </a:rPr>
              <a:t>Ценность: убрать двойную работу и сделать МДО единым окном по заявкам и расчетам</a:t>
            </a:r>
          </a:p>
        </p:txBody>
      </p:sp>
    </p:spTree>
    <p:extLst>
      <p:ext uri="{BB962C8B-B14F-4D97-AF65-F5344CB8AC3E}">
        <p14:creationId xmlns:p14="http://schemas.microsoft.com/office/powerpoint/2010/main" val="21159593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7" name="Google Shape;297;p13">
            <a:extLst xmlns:a="http://schemas.openxmlformats.org/drawingml/2006/main">
              <a:ext uri="{FF2B5EF4-FFF2-40B4-BE49-F238E27FC236}">
                <a16:creationId xmlns:a16="http://schemas.microsoft.com/office/drawing/2014/main" id="{E49C403A-C84D-43FA-B3ED-1602995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274320"/>
            <a:ext cx="3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736E63"/>
                </a:solidFill>
              </a:rPr>
              <a:t>10</a:t>
            </a:r>
          </a:p>
        </p:txBody>
      </p:sp>
      <p:sp>
        <p:nvSpPr>
          <p:cNvPr id="298" name="Google Shape;298;p13">
            <a:extLst xmlns:a="http://schemas.openxmlformats.org/drawingml/2006/main">
              <a:ext uri="{FF2B5EF4-FFF2-40B4-BE49-F238E27FC236}">
                <a16:creationId xmlns:a16="http://schemas.microsoft.com/office/drawing/2014/main" id="{F0830E94-C755-4C40-95FB-7EE64309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00" y="128070"/>
            <a:ext cx="10698600" cy="96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50" b="1">
                <a:solidFill>
                  <a:srgbClr val="292729"/>
                </a:solidFill>
              </a:rPr>
              <a:t>Какие SLA и метрики команда уже контролирует</a:t>
            </a:r>
          </a:p>
        </p:txBody>
      </p:sp>
      <p:sp>
        <p:nvSpPr>
          <p:cNvPr id="299" name="Google Shape;299;p13">
            <a:extLst xmlns:a="http://schemas.openxmlformats.org/drawingml/2006/main">
              <a:ext uri="{FF2B5EF4-FFF2-40B4-BE49-F238E27FC236}">
                <a16:creationId xmlns:a16="http://schemas.microsoft.com/office/drawing/2014/main" id="{1FEB6E7E-C984-4D86-BD52-20354F3B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5" y="1367425"/>
            <a:ext cx="5117100" cy="3684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27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0" name="Google Shape;300;p13">
            <a:extLst xmlns:a="http://schemas.openxmlformats.org/drawingml/2006/main">
              <a:ext uri="{FF2B5EF4-FFF2-40B4-BE49-F238E27FC236}">
                <a16:creationId xmlns:a16="http://schemas.microsoft.com/office/drawing/2014/main" id="{8BC7D247-2583-419C-A6DB-F6277ACE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8" y="1727128"/>
            <a:ext cx="1805700" cy="26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92" b="1">
                <a:solidFill>
                  <a:srgbClr val="FF570A"/>
                </a:solidFill>
              </a:rPr>
              <a:t>Работает сейчас</a:t>
            </a:r>
          </a:p>
        </p:txBody>
      </p:sp>
      <p:sp>
        <p:nvSpPr>
          <p:cNvPr id="301" name="Google Shape;301;p13">
            <a:extLst xmlns:a="http://schemas.openxmlformats.org/drawingml/2006/main">
              <a:ext uri="{FF2B5EF4-FFF2-40B4-BE49-F238E27FC236}">
                <a16:creationId xmlns:a16="http://schemas.microsoft.com/office/drawing/2014/main" id="{78A10FBA-9AE8-4652-8CFC-7378E827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50" y="2033480"/>
            <a:ext cx="3812700" cy="7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46" b="1">
                <a:solidFill>
                  <a:srgbClr val="FFFFFF"/>
                </a:solidFill>
              </a:rPr>
              <a:t>Еженедельный контроль риска оттока</a:t>
            </a:r>
          </a:p>
        </p:txBody>
      </p:sp>
      <p:sp>
        <p:nvSpPr>
          <p:cNvPr id="302" name="Google Shape;302;p13">
            <a:extLst xmlns:a="http://schemas.openxmlformats.org/drawingml/2006/main">
              <a:ext uri="{FF2B5EF4-FFF2-40B4-BE49-F238E27FC236}">
                <a16:creationId xmlns:a16="http://schemas.microsoft.com/office/drawing/2014/main" id="{8E9C650F-06DF-4168-A631-9C3B6CFE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8" y="2817137"/>
            <a:ext cx="300900" cy="27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FF570A"/>
                </a:solidFill>
              </a:rPr>
              <a:t>1</a:t>
            </a:r>
          </a:p>
        </p:txBody>
      </p:sp>
      <p:sp>
        <p:nvSpPr>
          <p:cNvPr id="303" name="Google Shape;303;p13">
            <a:extLst xmlns:a="http://schemas.openxmlformats.org/drawingml/2006/main">
              <a:ext uri="{FF2B5EF4-FFF2-40B4-BE49-F238E27FC236}">
                <a16:creationId xmlns:a16="http://schemas.microsoft.com/office/drawing/2014/main" id="{E7085FE2-C2F5-451B-8FFD-340040B9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89" y="2817137"/>
            <a:ext cx="3913200" cy="35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7">
                <a:solidFill>
                  <a:srgbClr val="E3E0DB"/>
                </a:solidFill>
              </a:rPr>
              <a:t>Аккаунт: падение активности → контакт с клиентом</a:t>
            </a:r>
          </a:p>
        </p:txBody>
      </p:sp>
      <p:sp>
        <p:nvSpPr>
          <p:cNvPr id="304" name="Google Shape;304;p13">
            <a:extLst xmlns:a="http://schemas.openxmlformats.org/drawingml/2006/main">
              <a:ext uri="{FF2B5EF4-FFF2-40B4-BE49-F238E27FC236}">
                <a16:creationId xmlns:a16="http://schemas.microsoft.com/office/drawing/2014/main" id="{F4154903-143B-40E2-9B1A-B47BBDEE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8" y="3340341"/>
            <a:ext cx="300900" cy="27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FF570A"/>
                </a:solidFill>
              </a:rPr>
              <a:t>2</a:t>
            </a:r>
          </a:p>
        </p:txBody>
      </p:sp>
      <p:sp>
        <p:nvSpPr>
          <p:cNvPr id="305" name="Google Shape;305;p13">
            <a:extLst xmlns:a="http://schemas.openxmlformats.org/drawingml/2006/main">
              <a:ext uri="{FF2B5EF4-FFF2-40B4-BE49-F238E27FC236}">
                <a16:creationId xmlns:a16="http://schemas.microsoft.com/office/drawing/2014/main" id="{E5DDAFEA-9517-40E9-93A3-BE952CD5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00" y="3340353"/>
            <a:ext cx="3913200" cy="51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7">
                <a:solidFill>
                  <a:srgbClr val="E3E0DB"/>
                </a:solidFill>
              </a:rPr>
              <a:t>Робот и телефония: ошибки собираются; пороги реакции формализуются</a:t>
            </a:r>
          </a:p>
        </p:txBody>
      </p:sp>
      <p:sp>
        <p:nvSpPr>
          <p:cNvPr id="306" name="Google Shape;306;p13">
            <a:extLst xmlns:a="http://schemas.openxmlformats.org/drawingml/2006/main">
              <a:ext uri="{FF2B5EF4-FFF2-40B4-BE49-F238E27FC236}">
                <a16:creationId xmlns:a16="http://schemas.microsoft.com/office/drawing/2014/main" id="{EE5F7CCD-9C24-4815-AB53-D85E5204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8" y="3863546"/>
            <a:ext cx="300900" cy="27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FF570A"/>
                </a:solidFill>
              </a:rPr>
              <a:t>3</a:t>
            </a:r>
          </a:p>
        </p:txBody>
      </p:sp>
      <p:sp>
        <p:nvSpPr>
          <p:cNvPr id="307" name="Google Shape;307;p13">
            <a:extLst xmlns:a="http://schemas.openxmlformats.org/drawingml/2006/main">
              <a:ext uri="{FF2B5EF4-FFF2-40B4-BE49-F238E27FC236}">
                <a16:creationId xmlns:a16="http://schemas.microsoft.com/office/drawing/2014/main" id="{4C151214-75C1-4799-B76F-208DCF5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89" y="3863546"/>
            <a:ext cx="3913200" cy="35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7">
                <a:solidFill>
                  <a:srgbClr val="E3E0DB"/>
                </a:solidFill>
              </a:rPr>
              <a:t>Рост активности: кандидат на апсейл</a:t>
            </a:r>
          </a:p>
        </p:txBody>
      </p:sp>
      <p:sp>
        <p:nvSpPr>
          <p:cNvPr id="308" name="Google Shape;308;p13">
            <a:extLst xmlns:a="http://schemas.openxmlformats.org/drawingml/2006/main">
              <a:ext uri="{FF2B5EF4-FFF2-40B4-BE49-F238E27FC236}">
                <a16:creationId xmlns:a16="http://schemas.microsoft.com/office/drawing/2014/main" id="{837A3F77-93F7-4E83-AEFF-E56019E5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498848"/>
            <a:ext cx="27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9" name="Google Shape;309;p13">
            <a:extLst xmlns:a="http://schemas.openxmlformats.org/drawingml/2006/main">
              <a:ext uri="{FF2B5EF4-FFF2-40B4-BE49-F238E27FC236}">
                <a16:creationId xmlns:a16="http://schemas.microsoft.com/office/drawing/2014/main" id="{56C6CEDA-6F64-41DC-8005-A283A740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052" y="1367425"/>
            <a:ext cx="6501600" cy="3684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0" name="Google Shape;310;p13">
            <a:extLst xmlns:a="http://schemas.openxmlformats.org/drawingml/2006/main">
              <a:ext uri="{FF2B5EF4-FFF2-40B4-BE49-F238E27FC236}">
                <a16:creationId xmlns:a16="http://schemas.microsoft.com/office/drawing/2014/main" id="{9261B6B1-293F-45B9-8088-346F9FEB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225" y="1727125"/>
            <a:ext cx="5571300" cy="5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92" b="1">
                <a:solidFill>
                  <a:srgbClr val="FF570A"/>
                </a:solidFill>
              </a:rPr>
              <a:t>Периодичность управленческого контроля</a:t>
            </a:r>
          </a:p>
        </p:txBody>
      </p:sp>
      <p:sp>
        <p:nvSpPr>
          <p:cNvPr id="311" name="Google Shape;311;p13">
            <a:extLst xmlns:a="http://schemas.openxmlformats.org/drawingml/2006/main">
              <a:ext uri="{FF2B5EF4-FFF2-40B4-BE49-F238E27FC236}">
                <a16:creationId xmlns:a16="http://schemas.microsoft.com/office/drawing/2014/main" id="{CA23CBF1-274A-4AAA-B902-C4832DCA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234" y="2250332"/>
            <a:ext cx="1455000" cy="3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1" b="1">
                <a:solidFill>
                  <a:srgbClr val="292729"/>
                </a:solidFill>
              </a:rPr>
              <a:t>Продажи + продукт</a:t>
            </a:r>
          </a:p>
        </p:txBody>
      </p:sp>
      <p:sp>
        <p:nvSpPr>
          <p:cNvPr id="312" name="Google Shape;312;p13">
            <a:extLst xmlns:a="http://schemas.openxmlformats.org/drawingml/2006/main">
              <a:ext uri="{FF2B5EF4-FFF2-40B4-BE49-F238E27FC236}">
                <a16:creationId xmlns:a16="http://schemas.microsoft.com/office/drawing/2014/main" id="{9E642769-8DD8-4202-9E9F-E1C7BA86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230" y="2250332"/>
            <a:ext cx="2257500" cy="34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6">
                <a:solidFill>
                  <a:srgbClr val="736E63"/>
                </a:solidFill>
              </a:rPr>
              <a:t>CAC и payback</a:t>
            </a:r>
          </a:p>
        </p:txBody>
      </p:sp>
      <p:sp>
        <p:nvSpPr>
          <p:cNvPr id="313" name="Google Shape;313;p13">
            <a:extLst xmlns:a="http://schemas.openxmlformats.org/drawingml/2006/main">
              <a:ext uri="{FF2B5EF4-FFF2-40B4-BE49-F238E27FC236}">
                <a16:creationId xmlns:a16="http://schemas.microsoft.com/office/drawing/2014/main" id="{1A52CA02-C14A-4578-BF16-4DA251DE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825" y="2250332"/>
            <a:ext cx="1354500" cy="34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2">
                <a:solidFill>
                  <a:srgbClr val="736E63"/>
                </a:solidFill>
              </a:rPr>
              <a:t>ежеквартально</a:t>
            </a:r>
          </a:p>
        </p:txBody>
      </p:sp>
      <p:sp>
        <p:nvSpPr>
          <p:cNvPr id="314" name="Google Shape;314;p13">
            <a:extLst xmlns:a="http://schemas.openxmlformats.org/drawingml/2006/main">
              <a:ext uri="{FF2B5EF4-FFF2-40B4-BE49-F238E27FC236}">
                <a16:creationId xmlns:a16="http://schemas.microsoft.com/office/drawing/2014/main" id="{E7A5A2D9-F6DC-49EF-961C-80888B5A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234" y="2871638"/>
            <a:ext cx="1455000" cy="3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1" b="1">
                <a:solidFill>
                  <a:srgbClr val="292729"/>
                </a:solidFill>
              </a:rPr>
              <a:t>Поддержка</a:t>
            </a:r>
          </a:p>
        </p:txBody>
      </p:sp>
      <p:sp>
        <p:nvSpPr>
          <p:cNvPr id="315" name="Google Shape;315;p13">
            <a:extLst xmlns:a="http://schemas.openxmlformats.org/drawingml/2006/main">
              <a:ext uri="{FF2B5EF4-FFF2-40B4-BE49-F238E27FC236}">
                <a16:creationId xmlns:a16="http://schemas.microsoft.com/office/drawing/2014/main" id="{3C21244D-E007-435F-8487-7F70EB36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230" y="2871638"/>
            <a:ext cx="2257500" cy="34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6">
                <a:solidFill>
                  <a:srgbClr val="736E63"/>
                </a:solidFill>
              </a:rPr>
              <a:t>скорость, качество, закрытие тикетов</a:t>
            </a:r>
          </a:p>
        </p:txBody>
      </p:sp>
      <p:sp>
        <p:nvSpPr>
          <p:cNvPr id="316" name="Google Shape;316;p13">
            <a:extLst xmlns:a="http://schemas.openxmlformats.org/drawingml/2006/main">
              <a:ext uri="{FF2B5EF4-FFF2-40B4-BE49-F238E27FC236}">
                <a16:creationId xmlns:a16="http://schemas.microsoft.com/office/drawing/2014/main" id="{B202C23B-16AF-4D6B-8778-23F61476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825" y="2871638"/>
            <a:ext cx="1354500" cy="34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2">
                <a:solidFill>
                  <a:srgbClr val="736E63"/>
                </a:solidFill>
              </a:rPr>
              <a:t>ежемесячно</a:t>
            </a:r>
          </a:p>
        </p:txBody>
      </p:sp>
      <p:sp>
        <p:nvSpPr>
          <p:cNvPr id="317" name="Google Shape;317;p13">
            <a:extLst xmlns:a="http://schemas.openxmlformats.org/drawingml/2006/main">
              <a:ext uri="{FF2B5EF4-FFF2-40B4-BE49-F238E27FC236}">
                <a16:creationId xmlns:a16="http://schemas.microsoft.com/office/drawing/2014/main" id="{7CE51708-87C6-4F64-AE3E-7901114C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234" y="3492943"/>
            <a:ext cx="1455000" cy="3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1" b="1">
                <a:solidFill>
                  <a:srgbClr val="292729"/>
                </a:solidFill>
              </a:rPr>
              <a:t>Разработка</a:t>
            </a:r>
          </a:p>
        </p:txBody>
      </p:sp>
      <p:sp>
        <p:nvSpPr>
          <p:cNvPr id="318" name="Google Shape;318;p13">
            <a:extLst xmlns:a="http://schemas.openxmlformats.org/drawingml/2006/main">
              <a:ext uri="{FF2B5EF4-FFF2-40B4-BE49-F238E27FC236}">
                <a16:creationId xmlns:a16="http://schemas.microsoft.com/office/drawing/2014/main" id="{B1654FA2-6CCA-4378-BCBF-6B1805C4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230" y="3492943"/>
            <a:ext cx="2257500" cy="34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6">
                <a:solidFill>
                  <a:srgbClr val="736E63"/>
                </a:solidFill>
              </a:rPr>
              <a:t>uptime робота / CRM / МП</a:t>
            </a:r>
          </a:p>
        </p:txBody>
      </p:sp>
      <p:sp>
        <p:nvSpPr>
          <p:cNvPr id="319" name="Google Shape;319;p13">
            <a:extLst xmlns:a="http://schemas.openxmlformats.org/drawingml/2006/main">
              <a:ext uri="{FF2B5EF4-FFF2-40B4-BE49-F238E27FC236}">
                <a16:creationId xmlns:a16="http://schemas.microsoft.com/office/drawing/2014/main" id="{6932FB7F-65BE-4EC3-85D5-264853DD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825" y="3492943"/>
            <a:ext cx="1354500" cy="34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2">
                <a:solidFill>
                  <a:srgbClr val="736E63"/>
                </a:solidFill>
              </a:rPr>
              <a:t>формализуется</a:t>
            </a:r>
          </a:p>
        </p:txBody>
      </p:sp>
      <p:sp>
        <p:nvSpPr>
          <p:cNvPr id="320" name="Google Shape;320;p13">
            <a:extLst xmlns:a="http://schemas.openxmlformats.org/drawingml/2006/main">
              <a:ext uri="{FF2B5EF4-FFF2-40B4-BE49-F238E27FC236}">
                <a16:creationId xmlns:a16="http://schemas.microsoft.com/office/drawing/2014/main" id="{0C869537-DB9B-4F5D-9B39-AEF092F6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234" y="4114248"/>
            <a:ext cx="1455000" cy="3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71" b="1">
                <a:solidFill>
                  <a:srgbClr val="292729"/>
                </a:solidFill>
              </a:rPr>
              <a:t>Аккаунтинг</a:t>
            </a:r>
          </a:p>
        </p:txBody>
      </p:sp>
      <p:sp>
        <p:nvSpPr>
          <p:cNvPr id="321" name="Google Shape;321;p13">
            <a:extLst xmlns:a="http://schemas.openxmlformats.org/drawingml/2006/main">
              <a:ext uri="{FF2B5EF4-FFF2-40B4-BE49-F238E27FC236}">
                <a16:creationId xmlns:a16="http://schemas.microsoft.com/office/drawing/2014/main" id="{E38A036D-1258-4A9C-9ADD-D7A9629B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230" y="4114248"/>
            <a:ext cx="2257500" cy="34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6">
                <a:solidFill>
                  <a:srgbClr val="736E63"/>
                </a:solidFill>
              </a:rPr>
              <a:t>риск оттока и действие по клиенту</a:t>
            </a:r>
          </a:p>
        </p:txBody>
      </p:sp>
      <p:sp>
        <p:nvSpPr>
          <p:cNvPr id="322" name="Google Shape;322;p13">
            <a:extLst xmlns:a="http://schemas.openxmlformats.org/drawingml/2006/main">
              <a:ext uri="{FF2B5EF4-FFF2-40B4-BE49-F238E27FC236}">
                <a16:creationId xmlns:a16="http://schemas.microsoft.com/office/drawing/2014/main" id="{8EFD3176-B71E-4176-92CF-0C3F61E6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825" y="4114248"/>
            <a:ext cx="1354500" cy="34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8975" tIns="108975" rIns="108975" bIns="1089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2">
                <a:solidFill>
                  <a:srgbClr val="736E63"/>
                </a:solidFill>
              </a:rPr>
              <a:t>еженедельно</a:t>
            </a:r>
          </a:p>
        </p:txBody>
      </p:sp>
      <p:sp>
        <p:nvSpPr>
          <p:cNvPr id="323" name="Google Shape;323;p13">
            <a:extLst xmlns:a="http://schemas.openxmlformats.org/drawingml/2006/main">
              <a:ext uri="{FF2B5EF4-FFF2-40B4-BE49-F238E27FC236}">
                <a16:creationId xmlns:a16="http://schemas.microsoft.com/office/drawing/2014/main" id="{335BEF7F-4E23-46F2-A093-38ED790D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1808"/>
            <a:ext cx="10835700" cy="512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4" name="Google Shape;324;p13">
            <a:extLst xmlns:a="http://schemas.openxmlformats.org/drawingml/2006/main">
              <a:ext uri="{FF2B5EF4-FFF2-40B4-BE49-F238E27FC236}">
                <a16:creationId xmlns:a16="http://schemas.microsoft.com/office/drawing/2014/main" id="{E6285072-E765-47B1-BB67-0989B1BE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0"/>
            <a:ext cx="914400" cy="20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570A"/>
                </a:solidFill>
              </a:rPr>
              <a:t>Правило</a:t>
            </a:r>
          </a:p>
        </p:txBody>
      </p:sp>
      <p:sp>
        <p:nvSpPr>
          <p:cNvPr id="325" name="Google Shape;325;p13">
            <a:extLst xmlns:a="http://schemas.openxmlformats.org/drawingml/2006/main">
              <a:ext uri="{FF2B5EF4-FFF2-40B4-BE49-F238E27FC236}">
                <a16:creationId xmlns:a16="http://schemas.microsoft.com/office/drawing/2014/main" id="{6EAD8E57-C5BC-4B0C-8086-AD6E9E2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31536"/>
            <a:ext cx="91440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0" b="1">
                <a:solidFill>
                  <a:srgbClr val="292729"/>
                </a:solidFill>
              </a:rPr>
              <a:t>SLA = показатель + порог + владелец + срок реакции. Uptime и нормативы реакции еще не утверждены.</a:t>
            </a:r>
          </a:p>
        </p:txBody>
      </p:sp>
      <p:sp>
        <p:nvSpPr>
          <p:cNvPr id="326" name="Google Shape;326;p13">
            <a:extLst xmlns:a="http://schemas.openxmlformats.org/drawingml/2006/main">
              <a:ext uri="{FF2B5EF4-FFF2-40B4-BE49-F238E27FC236}">
                <a16:creationId xmlns:a16="http://schemas.microsoft.com/office/drawing/2014/main" id="{AAD690CB-308A-4A07-ACEF-FB782360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3287"/>
            <a:ext cx="68580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u="sng">
                <a:solidFill>
                  <a:schemeClr val="hlink"/>
                </a:solidFill>
                <a:hlinkClick xmlns:r="http://schemas.openxmlformats.org/officeDocument/2006/relationships" r:id="R3f9f307ad0b34932"/>
              </a:rPr>
              <a:t>Источник: CEO-метрики МДО, июль 2026 · статусы «в работе» / «ожидаем» сохранены</a:t>
            </a:r>
          </a:p>
        </p:txBody>
      </p:sp>
    </p:spTree>
    <p:extLst>
      <p:ext uri="{BB962C8B-B14F-4D97-AF65-F5344CB8AC3E}">
        <p14:creationId xmlns:p14="http://schemas.microsoft.com/office/powerpoint/2010/main" val="2052865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4" name="Google Shape;35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7facb1d0624b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85750"/>
            <a:ext cx="10668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0" name="Google Shape;360;p15">
            <a:extLst xmlns:a="http://schemas.openxmlformats.org/drawingml/2006/main">
              <a:ext uri="{FF2B5EF4-FFF2-40B4-BE49-F238E27FC236}">
                <a16:creationId xmlns:a16="http://schemas.microsoft.com/office/drawing/2014/main" id="{307E15C8-D0B2-4070-8E7C-2E620C49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1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900"/>
              <a:buFont typeface="Arial"/>
              <a:buNone/>
            </a:pPr>
            <a:r>
              <a:rPr sz="90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ЭКОНОМИКА РОБОТА</a:t>
            </a:r>
          </a:p>
        </p:txBody>
      </p:sp>
      <p:sp>
        <p:nvSpPr>
          <p:cNvPr id="361" name="Google Shape;361;p15">
            <a:extLst xmlns:a="http://schemas.openxmlformats.org/drawingml/2006/main">
              <a:ext uri="{FF2B5EF4-FFF2-40B4-BE49-F238E27FC236}">
                <a16:creationId xmlns:a16="http://schemas.microsoft.com/office/drawing/2014/main" id="{CB75BADD-7B2D-403C-BAE5-478E8452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419"/>
              <a:buFont typeface="Arial"/>
              <a:buNone/>
            </a:pPr>
            <a:r>
              <a:rPr sz="2419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Текущий робот экономически укладывается в тариф</a:t>
            </a:r>
          </a:p>
        </p:txBody>
      </p:sp>
      <p:sp>
        <p:nvSpPr>
          <p:cNvPr id="362" name="Google Shape;362;p15">
            <a:extLst xmlns:a="http://schemas.openxmlformats.org/drawingml/2006/main">
              <a:ext uri="{FF2B5EF4-FFF2-40B4-BE49-F238E27FC236}">
                <a16:creationId xmlns:a16="http://schemas.microsoft.com/office/drawing/2014/main" id="{B8FC5C87-42B1-43D6-956F-86BA67EB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63" name="Google Shape;363;p15">
            <a:extLst xmlns:a="http://schemas.openxmlformats.org/drawingml/2006/main">
              <a:ext uri="{FF2B5EF4-FFF2-40B4-BE49-F238E27FC236}">
                <a16:creationId xmlns:a16="http://schemas.microsoft.com/office/drawing/2014/main" id="{9497F15F-8BEC-44FF-9B76-F20C5466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86"/>
              <a:buFont typeface="Arial"/>
              <a:buNone/>
            </a:pPr>
            <a:r>
              <a:rPr sz="1286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Апрель 2026: 105 внешних диспетчерских с активностью ≥10 минут. Себестоимость минуты — 2 ₽.</a:t>
            </a:r>
          </a:p>
        </p:txBody>
      </p:sp>
      <p:sp>
        <p:nvSpPr>
          <p:cNvPr id="364" name="Google Shape;364;p15">
            <a:extLst xmlns:a="http://schemas.openxmlformats.org/drawingml/2006/main">
              <a:ext uri="{FF2B5EF4-FFF2-40B4-BE49-F238E27FC236}">
                <a16:creationId xmlns:a16="http://schemas.microsoft.com/office/drawing/2014/main" id="{52329E6D-CF59-4E19-843B-092B7973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30670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5" name="Google Shape;365;p15">
            <a:extLst xmlns:a="http://schemas.openxmlformats.org/drawingml/2006/main">
              <a:ext uri="{FF2B5EF4-FFF2-40B4-BE49-F238E27FC236}">
                <a16:creationId xmlns:a16="http://schemas.microsoft.com/office/drawing/2014/main" id="{8E2543ED-DFE7-49E6-850F-18A21F2D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Фактический средний клиент</a:t>
            </a:r>
          </a:p>
        </p:txBody>
      </p:sp>
      <p:sp>
        <p:nvSpPr>
          <p:cNvPr id="366" name="Google Shape;366;p15">
            <a:extLst xmlns:a="http://schemas.openxmlformats.org/drawingml/2006/main">
              <a:ext uri="{FF2B5EF4-FFF2-40B4-BE49-F238E27FC236}">
                <a16:creationId xmlns:a16="http://schemas.microsoft.com/office/drawing/2014/main" id="{E73C6CA5-B648-4975-8597-3228131C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A64E"/>
              </a:buClr>
              <a:buSzPts val="3600"/>
              <a:buFont typeface="Arial"/>
              <a:buNone/>
            </a:pPr>
            <a:r>
              <a:rPr sz="3600" b="1">
                <a:solidFill>
                  <a:srgbClr val="3AA64E"/>
                </a:solidFill>
                <a:latin typeface="Arial"/>
                <a:ea typeface="Arial"/>
                <a:cs typeface="Arial"/>
              </a:rPr>
              <a:t>923 мин</a:t>
            </a:r>
          </a:p>
        </p:txBody>
      </p:sp>
      <p:sp>
        <p:nvSpPr>
          <p:cNvPr id="367" name="Google Shape;367;p15">
            <a:extLst xmlns:a="http://schemas.openxmlformats.org/drawingml/2006/main">
              <a:ext uri="{FF2B5EF4-FFF2-40B4-BE49-F238E27FC236}">
                <a16:creationId xmlns:a16="http://schemas.microsoft.com/office/drawing/2014/main" id="{E631ED83-DFB4-4815-B10A-97C13D1F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99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8,1 тыс. помещений · 1,85 тыс. ₽ переменной себестоимости</a:t>
            </a:r>
          </a:p>
        </p:txBody>
      </p:sp>
      <p:cxnSp>
        <p:nvCxnSpPr>
          <p:cNvPr id="453" name="Google Shape;368;p15"/>
          <p:cNvCxnSpPr/>
          <p:nvPr/>
        </p:nvCxnSpPr>
        <p:spPr>
          <a:xfrm xmlns:a="http://schemas.openxmlformats.org/drawingml/2006/main">
            <a:off x="971550" y="4248150"/>
            <a:ext cx="44005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9" name="Google Shape;369;p15">
            <a:extLst xmlns:a="http://schemas.openxmlformats.org/drawingml/2006/main">
              <a:ext uri="{FF2B5EF4-FFF2-40B4-BE49-F238E27FC236}">
                <a16:creationId xmlns:a16="http://schemas.microsoft.com/office/drawing/2014/main" id="{039B081A-5230-4FA2-981F-0A47304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125"/>
              <a:buFont typeface="Arial"/>
              <a:buNone/>
            </a:pPr>
            <a:r>
              <a:rPr sz="112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Тариф типовой сервисной УК</a:t>
            </a:r>
          </a:p>
        </p:txBody>
      </p:sp>
      <p:sp>
        <p:nvSpPr>
          <p:cNvPr id="370" name="Google Shape;370;p15">
            <a:extLst xmlns:a="http://schemas.openxmlformats.org/drawingml/2006/main">
              <a:ext uri="{FF2B5EF4-FFF2-40B4-BE49-F238E27FC236}">
                <a16:creationId xmlns:a16="http://schemas.microsoft.com/office/drawing/2014/main" id="{739A1B9F-AD7C-4C85-8EAB-E7DBCF2F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875"/>
              <a:buFont typeface="Arial"/>
              <a:buNone/>
            </a:pPr>
            <a:r>
              <a:rPr sz="187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44–55 тыс. ₽ / мес.</a:t>
            </a:r>
          </a:p>
        </p:txBody>
      </p:sp>
      <p:sp>
        <p:nvSpPr>
          <p:cNvPr id="371" name="Google Shape;371;p15">
            <a:extLst xmlns:a="http://schemas.openxmlformats.org/drawingml/2006/main">
              <a:ext uri="{FF2B5EF4-FFF2-40B4-BE49-F238E27FC236}">
                <a16:creationId xmlns:a16="http://schemas.microsoft.com/office/drawing/2014/main" id="{3E66A8A5-D8ED-41D3-8D48-6B825765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306705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282728"/>
          </a:solidFill>
          <a:ln xmlns:a="http://schemas.openxmlformats.org/drawingml/2006/main" w="9525" cmpd="sng">
            <a:solidFill>
              <a:srgbClr val="28272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2" name="Google Shape;372;p15">
            <a:extLst xmlns:a="http://schemas.openxmlformats.org/drawingml/2006/main">
              <a:ext uri="{FF2B5EF4-FFF2-40B4-BE49-F238E27FC236}">
                <a16:creationId xmlns:a16="http://schemas.microsoft.com/office/drawing/2014/main" id="{677D622C-894D-4ECB-B3FA-5CE45D4D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33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Arial"/>
              <a:buNone/>
            </a:pPr>
            <a:r>
              <a:rPr sz="1200" b="1">
                <a:solidFill>
                  <a:srgbClr val="A6A6A6"/>
                </a:solidFill>
                <a:latin typeface="Arial"/>
                <a:ea typeface="Arial"/>
                <a:cs typeface="Arial"/>
              </a:rPr>
              <a:t>Нагрузка робота на тариф</a:t>
            </a:r>
          </a:p>
        </p:txBody>
      </p:sp>
      <p:sp>
        <p:nvSpPr>
          <p:cNvPr id="373" name="Google Shape;373;p15">
            <a:extLst xmlns:a="http://schemas.openxmlformats.org/drawingml/2006/main">
              <a:ext uri="{FF2B5EF4-FFF2-40B4-BE49-F238E27FC236}">
                <a16:creationId xmlns:a16="http://schemas.microsoft.com/office/drawing/2014/main" id="{E990C0C1-04F6-48D9-99F3-D301CA1E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4050"/>
              <a:buFont typeface="Arial"/>
              <a:buNone/>
            </a:pPr>
            <a:r>
              <a:rPr sz="405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3–4%</a:t>
            </a:r>
          </a:p>
        </p:txBody>
      </p:sp>
      <p:sp>
        <p:nvSpPr>
          <p:cNvPr id="374" name="Google Shape;374;p15">
            <a:extLst xmlns:a="http://schemas.openxmlformats.org/drawingml/2006/main">
              <a:ext uri="{FF2B5EF4-FFF2-40B4-BE49-F238E27FC236}">
                <a16:creationId xmlns:a16="http://schemas.microsoft.com/office/drawing/2014/main" id="{29BB5F39-4527-4BFC-8713-64C89977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57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 фактической интенсивности</a:t>
            </a:r>
          </a:p>
        </p:txBody>
      </p:sp>
      <p:sp>
        <p:nvSpPr>
          <p:cNvPr id="375" name="Google Shape;375;p15">
            <a:extLst xmlns:a="http://schemas.openxmlformats.org/drawingml/2006/main">
              <a:ext uri="{FF2B5EF4-FFF2-40B4-BE49-F238E27FC236}">
                <a16:creationId xmlns:a16="http://schemas.microsoft.com/office/drawing/2014/main" id="{A7EB7FD5-25CA-48C9-9D37-B27444C1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529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22–27%</a:t>
            </a:r>
          </a:p>
        </p:txBody>
      </p:sp>
      <p:sp>
        <p:nvSpPr>
          <p:cNvPr id="376" name="Google Shape;376;p15">
            <a:extLst xmlns:a="http://schemas.openxmlformats.org/drawingml/2006/main">
              <a:ext uri="{FF2B5EF4-FFF2-40B4-BE49-F238E27FC236}">
                <a16:creationId xmlns:a16="http://schemas.microsoft.com/office/drawing/2014/main" id="{E6DD3BE3-944F-401B-8B24-124F87B8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910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50"/>
              <a:buFont typeface="Arial"/>
              <a:buNone/>
            </a:pPr>
            <a:r>
              <a:rPr sz="1050" b="0">
                <a:solidFill>
                  <a:srgbClr val="A6A6A6"/>
                </a:solidFill>
                <a:latin typeface="Arial"/>
                <a:ea typeface="Arial"/>
                <a:cs typeface="Arial"/>
              </a:rPr>
              <a:t>стресс: 6 тыс. минут = 12 тыс. ₽ при 8–10 тыс. ЛС</a:t>
            </a:r>
          </a:p>
        </p:txBody>
      </p:sp>
      <p:sp>
        <p:nvSpPr>
          <p:cNvPr id="377" name="Google Shape;377;p15">
            <a:extLst xmlns:a="http://schemas.openxmlformats.org/drawingml/2006/main">
              <a:ext uri="{FF2B5EF4-FFF2-40B4-BE49-F238E27FC236}">
                <a16:creationId xmlns:a16="http://schemas.microsoft.com/office/drawing/2014/main" id="{AE7453E9-C803-47E4-822E-2593BA04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24A45"/>
              </a:buClr>
              <a:buSzPts val="1125"/>
              <a:buFont typeface="Arial"/>
              <a:buNone/>
            </a:pPr>
            <a:r>
              <a:rPr sz="1125" b="1">
                <a:solidFill>
                  <a:srgbClr val="D24A45"/>
                </a:solidFill>
                <a:latin typeface="Arial"/>
                <a:ea typeface="Arial"/>
                <a:cs typeface="Arial"/>
              </a:rPr>
              <a:t>Расчет относится к текущему роботу. Экономика AI-версии будет отдельной: стек, точность, поддержка и TCO до голосового пилота.</a:t>
            </a:r>
          </a:p>
        </p:txBody>
      </p:sp>
      <p:cxnSp>
        <p:nvCxnSpPr>
          <p:cNvPr id="463" name="Google Shape;378;p15"/>
          <p:cNvCxnSpPr/>
          <p:nvPr/>
        </p:nvCxn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9" name="Google Shape;379;p15">
            <a:extLst xmlns:a="http://schemas.openxmlformats.org/drawingml/2006/main">
              <a:ext uri="{FF2B5EF4-FFF2-40B4-BE49-F238E27FC236}">
                <a16:creationId xmlns:a16="http://schemas.microsoft.com/office/drawing/2014/main" id="{FC2C5648-4C6B-46E1-AE81-A9A175B9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5320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825"/>
              <a:buFont typeface="Arial"/>
              <a:buNone/>
            </a:pPr>
            <a:r>
              <a:rPr sz="8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Источники: звонки робота 04.2026 · БД Метрики 05.2026 · 5,5 ₽/ЛС · 2 ₽/мин</a:t>
            </a:r>
          </a:p>
        </p:txBody>
      </p:sp>
    </p:spTree>
    <p:extLst>
      <p:ext uri="{BB962C8B-B14F-4D97-AF65-F5344CB8AC3E}">
        <p14:creationId xmlns:p14="http://schemas.microsoft.com/office/powerpoint/2010/main" val="19418277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Google Shape;266;p12">
            <a:extLst xmlns:a="http://schemas.openxmlformats.org/drawingml/2006/main">
              <a:ext uri="{FF2B5EF4-FFF2-40B4-BE49-F238E27FC236}">
                <a16:creationId xmlns:a16="http://schemas.microsoft.com/office/drawing/2014/main" id="{817F13D6-4B7B-44A7-A243-77071E8F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7402"/>
            <a:ext cx="12037500" cy="63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13" b="1">
                <a:solidFill>
                  <a:srgbClr val="292729"/>
                </a:solidFill>
              </a:rPr>
              <a:t>РЦ: платящий клиент МДО вошел в пилотный контур</a:t>
            </a:r>
          </a:p>
        </p:txBody>
      </p:sp>
      <p:sp>
        <p:nvSpPr>
          <p:cNvPr id="267" name="Google Shape;267;p12">
            <a:extLst xmlns:a="http://schemas.openxmlformats.org/drawingml/2006/main">
              <a:ext uri="{FF2B5EF4-FFF2-40B4-BE49-F238E27FC236}">
                <a16:creationId xmlns:a16="http://schemas.microsoft.com/office/drawing/2014/main" id="{1290400D-D24E-4AEA-8597-B9F57BAD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" y="980258"/>
            <a:ext cx="11934600" cy="41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85">
                <a:solidFill>
                  <a:srgbClr val="736E63"/>
                </a:solidFill>
              </a:rPr>
              <a:t>Три тарифа отражают разные запросы, но готовность подтверждается контрольным расчетом.</a:t>
            </a:r>
          </a:p>
        </p:txBody>
      </p:sp>
      <p:sp>
        <p:nvSpPr>
          <p:cNvPr id="268" name="Google Shape;268;p12">
            <a:extLst xmlns:a="http://schemas.openxmlformats.org/drawingml/2006/main">
              <a:ext uri="{FF2B5EF4-FFF2-40B4-BE49-F238E27FC236}">
                <a16:creationId xmlns:a16="http://schemas.microsoft.com/office/drawing/2014/main" id="{C9422146-DC62-4235-9E29-69B81471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50" y="1559952"/>
            <a:ext cx="3549600" cy="2109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9" name="Google Shape;269;p12">
            <a:extLst xmlns:a="http://schemas.openxmlformats.org/drawingml/2006/main">
              <a:ext uri="{FF2B5EF4-FFF2-40B4-BE49-F238E27FC236}">
                <a16:creationId xmlns:a16="http://schemas.microsoft.com/office/drawing/2014/main" id="{A6C88DC4-86D8-4184-A291-4251DFE9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26" y="1889182"/>
            <a:ext cx="2675100" cy="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5" b="1">
                <a:solidFill>
                  <a:srgbClr val="FF570A"/>
                </a:solidFill>
              </a:rPr>
              <a:t>15 ₽ / ЛС</a:t>
            </a:r>
          </a:p>
        </p:txBody>
      </p:sp>
      <p:sp>
        <p:nvSpPr>
          <p:cNvPr id="270" name="Google Shape;270;p12">
            <a:extLst xmlns:a="http://schemas.openxmlformats.org/drawingml/2006/main">
              <a:ext uri="{FF2B5EF4-FFF2-40B4-BE49-F238E27FC236}">
                <a16:creationId xmlns:a16="http://schemas.microsoft.com/office/drawing/2014/main" id="{F07A9EC1-F4B8-4EBE-8931-B5371B0A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26" y="2455047"/>
            <a:ext cx="2829300" cy="3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1">
                <a:solidFill>
                  <a:srgbClr val="292729"/>
                </a:solidFill>
              </a:rPr>
              <a:t>Биллинг МДО</a:t>
            </a:r>
          </a:p>
        </p:txBody>
      </p:sp>
      <p:sp>
        <p:nvSpPr>
          <p:cNvPr id="271" name="Google Shape;271;p12">
            <a:extLst xmlns:a="http://schemas.openxmlformats.org/drawingml/2006/main">
              <a:ext uri="{FF2B5EF4-FFF2-40B4-BE49-F238E27FC236}">
                <a16:creationId xmlns:a16="http://schemas.microsoft.com/office/drawing/2014/main" id="{3EF5F6B8-F38E-4741-88E5-E47915B5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26" y="2928315"/>
            <a:ext cx="2932200" cy="49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1">
                <a:solidFill>
                  <a:srgbClr val="736E63"/>
                </a:solidFill>
              </a:rPr>
              <a:t>Клиент считает самостоятельно; МДО дает систему, обучение и сопровождение.</a:t>
            </a:r>
          </a:p>
        </p:txBody>
      </p:sp>
      <p:sp>
        <p:nvSpPr>
          <p:cNvPr id="272" name="Google Shape;272;p12">
            <a:extLst xmlns:a="http://schemas.openxmlformats.org/drawingml/2006/main">
              <a:ext uri="{FF2B5EF4-FFF2-40B4-BE49-F238E27FC236}">
                <a16:creationId xmlns:a16="http://schemas.microsoft.com/office/drawing/2014/main" id="{0E94D59B-4FB5-45AF-8599-CA8F6246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947" y="1559952"/>
            <a:ext cx="3549600" cy="2109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3" name="Google Shape;273;p12">
            <a:extLst xmlns:a="http://schemas.openxmlformats.org/drawingml/2006/main">
              <a:ext uri="{FF2B5EF4-FFF2-40B4-BE49-F238E27FC236}">
                <a16:creationId xmlns:a16="http://schemas.microsoft.com/office/drawing/2014/main" id="{69D3288C-8972-41B6-AFE1-2ECDE3B1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023" y="1889182"/>
            <a:ext cx="2675100" cy="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5" b="1">
                <a:solidFill>
                  <a:srgbClr val="FF570A"/>
                </a:solidFill>
              </a:rPr>
              <a:t>20 ₽ / ЛС</a:t>
            </a:r>
          </a:p>
        </p:txBody>
      </p:sp>
      <p:sp>
        <p:nvSpPr>
          <p:cNvPr id="274" name="Google Shape;274;p12">
            <a:extLst xmlns:a="http://schemas.openxmlformats.org/drawingml/2006/main">
              <a:ext uri="{FF2B5EF4-FFF2-40B4-BE49-F238E27FC236}">
                <a16:creationId xmlns:a16="http://schemas.microsoft.com/office/drawing/2014/main" id="{B172B1AB-2CD0-4FB1-AD50-9F6CF67E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023" y="2455047"/>
            <a:ext cx="2829300" cy="3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1">
                <a:solidFill>
                  <a:srgbClr val="292729"/>
                </a:solidFill>
              </a:rPr>
              <a:t>Расчет содержания</a:t>
            </a:r>
          </a:p>
        </p:txBody>
      </p:sp>
      <p:sp>
        <p:nvSpPr>
          <p:cNvPr id="275" name="Google Shape;275;p12">
            <a:extLst xmlns:a="http://schemas.openxmlformats.org/drawingml/2006/main">
              <a:ext uri="{FF2B5EF4-FFF2-40B4-BE49-F238E27FC236}">
                <a16:creationId xmlns:a16="http://schemas.microsoft.com/office/drawing/2014/main" id="{29E1F387-1204-4141-8765-BB6EC70A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023" y="2928315"/>
            <a:ext cx="2932200" cy="49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1">
                <a:solidFill>
                  <a:srgbClr val="736E63"/>
                </a:solidFill>
              </a:rPr>
              <a:t>МДО рассчитывает содержание; коммунальные услуги остаются вне контура.</a:t>
            </a:r>
          </a:p>
        </p:txBody>
      </p:sp>
      <p:sp>
        <p:nvSpPr>
          <p:cNvPr id="276" name="Google Shape;276;p12">
            <a:extLst xmlns:a="http://schemas.openxmlformats.org/drawingml/2006/main">
              <a:ext uri="{FF2B5EF4-FFF2-40B4-BE49-F238E27FC236}">
                <a16:creationId xmlns:a16="http://schemas.microsoft.com/office/drawing/2014/main" id="{C06C55A0-FCF5-4D25-B58F-30D30769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844" y="1559952"/>
            <a:ext cx="3549600" cy="2109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27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7" name="Google Shape;277;p12">
            <a:extLst xmlns:a="http://schemas.openxmlformats.org/drawingml/2006/main">
              <a:ext uri="{FF2B5EF4-FFF2-40B4-BE49-F238E27FC236}">
                <a16:creationId xmlns:a16="http://schemas.microsoft.com/office/drawing/2014/main" id="{A990C54E-7FA7-40DF-80EE-369D02A2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920" y="1889182"/>
            <a:ext cx="2675100" cy="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5" b="1">
                <a:solidFill>
                  <a:srgbClr val="FF570A"/>
                </a:solidFill>
              </a:rPr>
              <a:t>40 ₽ / ЛС</a:t>
            </a:r>
          </a:p>
        </p:txBody>
      </p:sp>
      <p:sp>
        <p:nvSpPr>
          <p:cNvPr id="278" name="Google Shape;278;p12">
            <a:extLst xmlns:a="http://schemas.openxmlformats.org/drawingml/2006/main">
              <a:ext uri="{FF2B5EF4-FFF2-40B4-BE49-F238E27FC236}">
                <a16:creationId xmlns:a16="http://schemas.microsoft.com/office/drawing/2014/main" id="{4E7B73C6-D307-41BC-A6B1-FB9E388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920" y="2455047"/>
            <a:ext cx="2829300" cy="3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1">
                <a:solidFill>
                  <a:srgbClr val="FFFFFF"/>
                </a:solidFill>
              </a:rPr>
              <a:t>Расчетный центр</a:t>
            </a:r>
          </a:p>
        </p:txBody>
      </p:sp>
      <p:sp>
        <p:nvSpPr>
          <p:cNvPr id="279" name="Google Shape;279;p12">
            <a:extLst xmlns:a="http://schemas.openxmlformats.org/drawingml/2006/main">
              <a:ext uri="{FF2B5EF4-FFF2-40B4-BE49-F238E27FC236}">
                <a16:creationId xmlns:a16="http://schemas.microsoft.com/office/drawing/2014/main" id="{998FB773-118D-4944-A5DC-1B25D997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920" y="2928315"/>
            <a:ext cx="2932200" cy="49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1">
                <a:solidFill>
                  <a:srgbClr val="E3E0DB"/>
                </a:solidFill>
              </a:rPr>
              <a:t>Полный согласованный расчетный цикл и персональный специалист по начислениям.</a:t>
            </a:r>
          </a:p>
        </p:txBody>
      </p:sp>
      <p:sp>
        <p:nvSpPr>
          <p:cNvPr id="280" name="Google Shape;280;p12">
            <a:extLst xmlns:a="http://schemas.openxmlformats.org/drawingml/2006/main">
              <a:ext uri="{FF2B5EF4-FFF2-40B4-BE49-F238E27FC236}">
                <a16:creationId xmlns:a16="http://schemas.microsoft.com/office/drawing/2014/main" id="{4DB06CEC-DF32-41F7-B2CE-45343DC5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03697"/>
            <a:ext cx="12192000" cy="1316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1" name="Google Shape;281;p12">
            <a:extLst xmlns:a="http://schemas.openxmlformats.org/drawingml/2006/main">
              <a:ext uri="{FF2B5EF4-FFF2-40B4-BE49-F238E27FC236}">
                <a16:creationId xmlns:a16="http://schemas.microsoft.com/office/drawing/2014/main" id="{FA66B24B-EF85-4AAE-B13D-6B1730C5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53" y="4701295"/>
            <a:ext cx="1492200" cy="22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9" b="1">
                <a:solidFill>
                  <a:srgbClr val="FF570A"/>
                </a:solidFill>
              </a:rPr>
              <a:t>СТАТУС ПИЛОТА</a:t>
            </a:r>
          </a:p>
        </p:txBody>
      </p:sp>
      <p:sp>
        <p:nvSpPr>
          <p:cNvPr id="282" name="Google Shape;282;p12">
            <a:extLst xmlns:a="http://schemas.openxmlformats.org/drawingml/2006/main">
              <a:ext uri="{FF2B5EF4-FFF2-40B4-BE49-F238E27FC236}">
                <a16:creationId xmlns:a16="http://schemas.microsoft.com/office/drawing/2014/main" id="{3EE82114-582D-49B5-9718-87F37437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252" y="4458025"/>
            <a:ext cx="2022600" cy="3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13" b="1">
                <a:solidFill>
                  <a:srgbClr val="292729"/>
                </a:solidFill>
              </a:rPr>
              <a:t>1 клиент</a:t>
            </a:r>
          </a:p>
        </p:txBody>
      </p:sp>
      <p:sp>
        <p:nvSpPr>
          <p:cNvPr id="283" name="Google Shape;283;p12">
            <a:extLst xmlns:a="http://schemas.openxmlformats.org/drawingml/2006/main">
              <a:ext uri="{FF2B5EF4-FFF2-40B4-BE49-F238E27FC236}">
                <a16:creationId xmlns:a16="http://schemas.microsoft.com/office/drawing/2014/main" id="{D0D6129F-AB85-47C8-A8CF-A93657FE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250" y="4958904"/>
            <a:ext cx="26751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3">
                <a:solidFill>
                  <a:srgbClr val="736E63"/>
                </a:solidFill>
              </a:rPr>
              <a:t>оплатил диспетчеризацию; РЦ проверяет в пилотном контуре</a:t>
            </a:r>
          </a:p>
        </p:txBody>
      </p:sp>
      <p:sp>
        <p:nvSpPr>
          <p:cNvPr id="284" name="Google Shape;284;p12">
            <a:extLst xmlns:a="http://schemas.openxmlformats.org/drawingml/2006/main">
              <a:ext uri="{FF2B5EF4-FFF2-40B4-BE49-F238E27FC236}">
                <a16:creationId xmlns:a16="http://schemas.microsoft.com/office/drawing/2014/main" id="{5358DF60-D609-497E-9598-F2073398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337" y="4458023"/>
            <a:ext cx="1440300" cy="3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13" b="1">
                <a:solidFill>
                  <a:srgbClr val="292729"/>
                </a:solidFill>
              </a:rPr>
              <a:t>Dev stand</a:t>
            </a:r>
          </a:p>
        </p:txBody>
      </p:sp>
      <p:sp>
        <p:nvSpPr>
          <p:cNvPr id="285" name="Google Shape;285;p12">
            <a:extLst xmlns:a="http://schemas.openxmlformats.org/drawingml/2006/main">
              <a:ext uri="{FF2B5EF4-FFF2-40B4-BE49-F238E27FC236}">
                <a16:creationId xmlns:a16="http://schemas.microsoft.com/office/drawing/2014/main" id="{31BBEC49-ABA7-4C04-BAF9-9C435787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325" y="4859277"/>
            <a:ext cx="21606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3">
                <a:solidFill>
                  <a:srgbClr val="736E63"/>
                </a:solidFill>
              </a:rPr>
              <a:t>показаны норматив, пени и 30/30 квитанций; production readiness не подтверждена</a:t>
            </a:r>
          </a:p>
        </p:txBody>
      </p:sp>
      <p:sp>
        <p:nvSpPr>
          <p:cNvPr id="286" name="Google Shape;286;p12">
            <a:extLst xmlns:a="http://schemas.openxmlformats.org/drawingml/2006/main">
              <a:ext uri="{FF2B5EF4-FFF2-40B4-BE49-F238E27FC236}">
                <a16:creationId xmlns:a16="http://schemas.microsoft.com/office/drawing/2014/main" id="{ECE06D01-7892-44B6-A30D-E31915E5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890" y="4458023"/>
            <a:ext cx="1646100" cy="3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13" b="1">
                <a:solidFill>
                  <a:srgbClr val="292729"/>
                </a:solidFill>
              </a:rPr>
              <a:t>1 эксперт</a:t>
            </a:r>
          </a:p>
        </p:txBody>
      </p:sp>
      <p:sp>
        <p:nvSpPr>
          <p:cNvPr id="287" name="Google Shape;287;p12">
            <a:extLst xmlns:a="http://schemas.openxmlformats.org/drawingml/2006/main">
              <a:ext uri="{FF2B5EF4-FFF2-40B4-BE49-F238E27FC236}">
                <a16:creationId xmlns:a16="http://schemas.microsoft.com/office/drawing/2014/main" id="{69299E1C-2DA2-453B-BEDE-D4BBCEB1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900" y="4859277"/>
            <a:ext cx="22638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3">
                <a:solidFill>
                  <a:srgbClr val="736E63"/>
                </a:solidFill>
              </a:rPr>
              <a:t>специалист по начислениям участвует в пилоте</a:t>
            </a:r>
          </a:p>
        </p:txBody>
      </p:sp>
      <p:sp>
        <p:nvSpPr>
          <p:cNvPr id="288" name="Google Shape;288;p12">
            <a:extLst xmlns:a="http://schemas.openxmlformats.org/drawingml/2006/main">
              <a:ext uri="{FF2B5EF4-FFF2-40B4-BE49-F238E27FC236}">
                <a16:creationId xmlns:a16="http://schemas.microsoft.com/office/drawing/2014/main" id="{0AD053E0-2D23-40BB-831E-FFEC59AF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444" y="4458023"/>
            <a:ext cx="1029000" cy="3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FF570A"/>
                </a:solidFill>
              </a:rPr>
              <a:t>До 10.09</a:t>
            </a:r>
          </a:p>
        </p:txBody>
      </p:sp>
      <p:sp>
        <p:nvSpPr>
          <p:cNvPr id="289" name="Google Shape;289;p12">
            <a:extLst xmlns:a="http://schemas.openxmlformats.org/drawingml/2006/main">
              <a:ext uri="{FF2B5EF4-FFF2-40B4-BE49-F238E27FC236}">
                <a16:creationId xmlns:a16="http://schemas.microsoft.com/office/drawing/2014/main" id="{81FAA00C-8A04-4836-9E0B-CDAFA4FE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906" y="4859272"/>
            <a:ext cx="1903500" cy="41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8">
                <a:solidFill>
                  <a:srgbClr val="736E63"/>
                </a:solidFill>
              </a:rPr>
              <a:t>устойчивый контрольный расчет; ГИС и обмены требуют проверки</a:t>
            </a:r>
          </a:p>
        </p:txBody>
      </p:sp>
      <p:sp>
        <p:nvSpPr>
          <p:cNvPr id="290" name="Google Shape;290;p12">
            <a:extLst xmlns:a="http://schemas.openxmlformats.org/drawingml/2006/main">
              <a:ext uri="{FF2B5EF4-FFF2-40B4-BE49-F238E27FC236}">
                <a16:creationId xmlns:a16="http://schemas.microsoft.com/office/drawing/2014/main" id="{05CB7040-2BBA-4395-9A35-069552D8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6963"/>
            <a:ext cx="12192000" cy="442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27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1" name="Google Shape;291;p12">
            <a:extLst xmlns:a="http://schemas.openxmlformats.org/drawingml/2006/main">
              <a:ext uri="{FF2B5EF4-FFF2-40B4-BE49-F238E27FC236}">
                <a16:creationId xmlns:a16="http://schemas.microsoft.com/office/drawing/2014/main" id="{92277E10-6B09-408B-8A04-D54CF2B1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50" y="5960119"/>
            <a:ext cx="11317200" cy="3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875" tIns="102875" rIns="102875" bIns="10287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4" b="1">
                <a:solidFill>
                  <a:srgbClr val="FFFFFF"/>
                </a:solidFill>
              </a:rPr>
              <a:t>Критерий: расчет сходится, расхождения объяснимы, квитанции проверены, клиент подтверждает методику.</a:t>
            </a:r>
          </a:p>
        </p:txBody>
      </p:sp>
    </p:spTree>
    <p:extLst>
      <p:ext uri="{BB962C8B-B14F-4D97-AF65-F5344CB8AC3E}">
        <p14:creationId xmlns:p14="http://schemas.microsoft.com/office/powerpoint/2010/main" val="16516798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Google Shape;332;p14">
            <a:extLst xmlns:a="http://schemas.openxmlformats.org/drawingml/2006/main">
              <a:ext uri="{FF2B5EF4-FFF2-40B4-BE49-F238E27FC236}">
                <a16:creationId xmlns:a16="http://schemas.microsoft.com/office/drawing/2014/main" id="{36FE0BCD-B345-4EF5-800D-50CEEBA8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900"/>
              <a:buFont typeface="Arial"/>
              <a:buNone/>
            </a:pPr>
            <a:r>
              <a:t/>
            </a:r>
          </a:p>
        </p:txBody>
      </p:sp>
      <p:sp>
        <p:nvSpPr>
          <p:cNvPr id="333" name="Google Shape;333;p14">
            <a:extLst xmlns:a="http://schemas.openxmlformats.org/drawingml/2006/main">
              <a:ext uri="{FF2B5EF4-FFF2-40B4-BE49-F238E27FC236}">
                <a16:creationId xmlns:a16="http://schemas.microsoft.com/office/drawing/2014/main" id="{E038766A-C22D-4E9C-9573-C7DA4FF0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419"/>
              <a:buFont typeface="Arial"/>
              <a:buNone/>
            </a:pPr>
            <a:r>
              <a:rPr sz="2419" b="1">
                <a:solidFill>
                  <a:srgbClr val="2E2B24"/>
                </a:solidFill>
              </a:rPr>
              <a:t>Стратегия 2026: сначала надежность ядра, затем рост через робот и РЦ</a:t>
            </a:r>
          </a:p>
        </p:txBody>
      </p:sp>
      <p:sp>
        <p:nvSpPr>
          <p:cNvPr id="334" name="Google Shape;334;p14">
            <a:extLst xmlns:a="http://schemas.openxmlformats.org/drawingml/2006/main">
              <a:ext uri="{FF2B5EF4-FFF2-40B4-BE49-F238E27FC236}">
                <a16:creationId xmlns:a16="http://schemas.microsoft.com/office/drawing/2014/main" id="{3BCE4B8F-BA35-4FDC-AE1D-0D38B0E3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35" name="Google Shape;335;p14">
            <a:extLst xmlns:a="http://schemas.openxmlformats.org/drawingml/2006/main">
              <a:ext uri="{FF2B5EF4-FFF2-40B4-BE49-F238E27FC236}">
                <a16:creationId xmlns:a16="http://schemas.microsoft.com/office/drawing/2014/main" id="{D8E6CBC4-4BD7-4BF6-B484-E23DD70B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93" y="1268875"/>
            <a:ext cx="9923100" cy="131550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150" cmpd="sng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7025" tIns="107025" rIns="107025" bIns="1070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6" name="Google Shape;336;p14">
            <a:extLst xmlns:a="http://schemas.openxmlformats.org/drawingml/2006/main">
              <a:ext uri="{FF2B5EF4-FFF2-40B4-BE49-F238E27FC236}">
                <a16:creationId xmlns:a16="http://schemas.microsoft.com/office/drawing/2014/main" id="{C205ED4D-34B7-4C7C-8402-D852C26D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750" y="1424925"/>
            <a:ext cx="423600" cy="42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1229"/>
              <a:buFont typeface="Arial"/>
              <a:buNone/>
            </a:pPr>
            <a:r>
              <a:rPr sz="1229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7" name="Google Shape;337;p14">
            <a:extLst xmlns:a="http://schemas.openxmlformats.org/drawingml/2006/main">
              <a:ext uri="{FF2B5EF4-FFF2-40B4-BE49-F238E27FC236}">
                <a16:creationId xmlns:a16="http://schemas.microsoft.com/office/drawing/2014/main" id="{7742701A-D634-45D4-97E4-98D9B076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345" y="1424927"/>
            <a:ext cx="2898900" cy="42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019"/>
              <a:buFont typeface="Arial"/>
              <a:buNone/>
            </a:pPr>
            <a:r>
              <a:rPr sz="2019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Надежная SaaS-база</a:t>
            </a:r>
          </a:p>
        </p:txBody>
      </p:sp>
      <p:sp>
        <p:nvSpPr>
          <p:cNvPr id="338" name="Google Shape;338;p14">
            <a:extLst xmlns:a="http://schemas.openxmlformats.org/drawingml/2006/main">
              <a:ext uri="{FF2B5EF4-FFF2-40B4-BE49-F238E27FC236}">
                <a16:creationId xmlns:a16="http://schemas.microsoft.com/office/drawing/2014/main" id="{8081773D-CC28-4A5E-B6C9-3D2DEA37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345" y="2004737"/>
            <a:ext cx="4348200" cy="31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317"/>
              <a:buFont typeface="Arial"/>
              <a:buNone/>
            </a:pPr>
            <a:r>
              <a:rPr sz="1317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CRM · диспетчерская · МП · MAX · поддержка</a:t>
            </a:r>
          </a:p>
        </p:txBody>
      </p:sp>
      <p:sp>
        <p:nvSpPr>
          <p:cNvPr id="339" name="Google Shape;339;p14">
            <a:extLst xmlns:a="http://schemas.openxmlformats.org/drawingml/2006/main">
              <a:ext uri="{FF2B5EF4-FFF2-40B4-BE49-F238E27FC236}">
                <a16:creationId xmlns:a16="http://schemas.microsoft.com/office/drawing/2014/main" id="{5BF46957-BD75-477F-9221-5BE8B2A9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474" y="1647950"/>
            <a:ext cx="4942800" cy="57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94640"/>
              </a:buClr>
              <a:buSzPts val="1405"/>
              <a:buFont typeface="Arial"/>
              <a:buNone/>
            </a:pPr>
            <a:r>
              <a:rPr sz="1405" b="1">
                <a:solidFill>
                  <a:srgbClr val="494640"/>
                </a:solidFill>
                <a:latin typeface="Arial"/>
                <a:ea typeface="Arial"/>
                <a:cs typeface="Arial"/>
              </a:rPr>
              <a:t>Удержание, прозрачный SLA и апсейл действующей базы.</a:t>
            </a:r>
          </a:p>
        </p:txBody>
      </p:sp>
      <p:sp>
        <p:nvSpPr>
          <p:cNvPr id="340" name="Google Shape;340;p14">
            <a:extLst xmlns:a="http://schemas.openxmlformats.org/drawingml/2006/main">
              <a:ext uri="{FF2B5EF4-FFF2-40B4-BE49-F238E27FC236}">
                <a16:creationId xmlns:a16="http://schemas.microsoft.com/office/drawing/2014/main" id="{CCEF406C-93B1-4D94-B6B8-857E053C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247" y="3987116"/>
            <a:ext cx="9030900" cy="131550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570A"/>
          </a:solidFill>
          <a:ln xmlns:a="http://schemas.openxmlformats.org/drawingml/2006/main" w="11150" cmpd="sng">
            <a:solidFill>
              <a:srgbClr val="FF570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7025" tIns="107025" rIns="107025" bIns="1070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1" name="Google Shape;341;p14">
            <a:extLst xmlns:a="http://schemas.openxmlformats.org/drawingml/2006/main">
              <a:ext uri="{FF2B5EF4-FFF2-40B4-BE49-F238E27FC236}">
                <a16:creationId xmlns:a16="http://schemas.microsoft.com/office/drawing/2014/main" id="{73D8428C-32B5-41BA-9582-8D52AA7D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833" y="4232403"/>
            <a:ext cx="423600" cy="31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9"/>
              <a:buFont typeface="Arial"/>
              <a:buNone/>
            </a:pPr>
            <a:r>
              <a:rPr sz="1229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2" name="Google Shape;342;p14">
            <a:extLst xmlns:a="http://schemas.openxmlformats.org/drawingml/2006/main">
              <a:ext uri="{FF2B5EF4-FFF2-40B4-BE49-F238E27FC236}">
                <a16:creationId xmlns:a16="http://schemas.microsoft.com/office/drawing/2014/main" id="{453046AA-B13F-43C6-BA00-CE11C53E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499" y="4187805"/>
            <a:ext cx="2898900" cy="42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9"/>
              <a:buFont typeface="Arial"/>
              <a:buNone/>
            </a:pPr>
            <a:r>
              <a:rPr sz="2019" b="1">
                <a:solidFill>
                  <a:srgbClr val="FFFFFF"/>
                </a:solidFill>
              </a:rPr>
              <a:t>Умный робот-диспетчер</a:t>
            </a:r>
          </a:p>
        </p:txBody>
      </p:sp>
      <p:sp>
        <p:nvSpPr>
          <p:cNvPr id="343" name="Google Shape;343;p14">
            <a:extLst xmlns:a="http://schemas.openxmlformats.org/drawingml/2006/main">
              <a:ext uri="{FF2B5EF4-FFF2-40B4-BE49-F238E27FC236}">
                <a16:creationId xmlns:a16="http://schemas.microsoft.com/office/drawing/2014/main" id="{62355DC9-3BE3-40B0-9E37-F0FBAF77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525" y="4110875"/>
            <a:ext cx="4638600" cy="10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5"/>
              <a:buFont typeface="Arial"/>
              <a:buNone/>
            </a:pPr>
            <a:r>
              <a:rPr sz="1639"/>
              <a:t>Развиваем текущего робота: прием обращений → консультация → голос. Пилоты — только при измеримом SLA.</a:t>
            </a:r>
          </a:p>
        </p:txBody>
      </p:sp>
      <p:sp>
        <p:nvSpPr>
          <p:cNvPr id="344" name="Google Shape;344;p14">
            <a:extLst xmlns:a="http://schemas.openxmlformats.org/drawingml/2006/main">
              <a:ext uri="{FF2B5EF4-FFF2-40B4-BE49-F238E27FC236}">
                <a16:creationId xmlns:a16="http://schemas.microsoft.com/office/drawing/2014/main" id="{D3B23AF0-4D60-45E2-B4A1-06A6D31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500" y="5438806"/>
            <a:ext cx="8139000" cy="131550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282728"/>
          </a:solidFill>
          <a:ln xmlns:a="http://schemas.openxmlformats.org/drawingml/2006/main" w="11150" cmpd="sng">
            <a:solidFill>
              <a:srgbClr val="28272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7025" tIns="107025" rIns="107025" bIns="1070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5" name="Google Shape;345;p14">
            <a:extLst xmlns:a="http://schemas.openxmlformats.org/drawingml/2006/main">
              <a:ext uri="{FF2B5EF4-FFF2-40B4-BE49-F238E27FC236}">
                <a16:creationId xmlns:a16="http://schemas.microsoft.com/office/drawing/2014/main" id="{C21059AB-F839-4650-9E5B-6693225A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086" y="5684093"/>
            <a:ext cx="423600" cy="31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1229"/>
              <a:buFont typeface="Arial"/>
              <a:buNone/>
            </a:pPr>
            <a:r>
              <a:rPr sz="1229" b="1">
                <a:solidFill>
                  <a:srgbClr val="FF570A"/>
                </a:solidFill>
              </a:rPr>
              <a:t>4</a:t>
            </a:r>
          </a:p>
        </p:txBody>
      </p:sp>
      <p:sp>
        <p:nvSpPr>
          <p:cNvPr id="346" name="Google Shape;346;p14">
            <a:extLst xmlns:a="http://schemas.openxmlformats.org/drawingml/2006/main">
              <a:ext uri="{FF2B5EF4-FFF2-40B4-BE49-F238E27FC236}">
                <a16:creationId xmlns:a16="http://schemas.microsoft.com/office/drawing/2014/main" id="{63705A5B-E7E8-450F-A7B6-339FBEAD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752" y="5639496"/>
            <a:ext cx="2898900" cy="42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9"/>
              <a:buFont typeface="Arial"/>
              <a:buNone/>
            </a:pPr>
            <a:r>
              <a:rPr sz="20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Расчетный центр</a:t>
            </a:r>
          </a:p>
        </p:txBody>
      </p:sp>
      <p:sp>
        <p:nvSpPr>
          <p:cNvPr id="347" name="Google Shape;347;p14">
            <a:extLst xmlns:a="http://schemas.openxmlformats.org/drawingml/2006/main">
              <a:ext uri="{FF2B5EF4-FFF2-40B4-BE49-F238E27FC236}">
                <a16:creationId xmlns:a16="http://schemas.microsoft.com/office/drawing/2014/main" id="{5558405D-61B8-489D-AD5C-9ADFB24A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752" y="6174668"/>
            <a:ext cx="4348200" cy="31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7F7F7"/>
              </a:buClr>
              <a:buSzPts val="1317"/>
              <a:buFont typeface="Arial"/>
              <a:buNone/>
            </a:pPr>
            <a:r>
              <a:rPr sz="1317" b="0">
                <a:solidFill>
                  <a:srgbClr val="F7F7F7"/>
                </a:solidFill>
                <a:latin typeface="Arial"/>
                <a:ea typeface="Arial"/>
                <a:cs typeface="Arial"/>
              </a:rPr>
              <a:t>15 / 20 / 40 ₽ за ЛС</a:t>
            </a:r>
          </a:p>
        </p:txBody>
      </p:sp>
      <p:sp>
        <p:nvSpPr>
          <p:cNvPr id="348" name="Google Shape;348;p14">
            <a:extLst xmlns:a="http://schemas.openxmlformats.org/drawingml/2006/main">
              <a:ext uri="{FF2B5EF4-FFF2-40B4-BE49-F238E27FC236}">
                <a16:creationId xmlns:a16="http://schemas.microsoft.com/office/drawing/2014/main" id="{A992FBD7-B5A5-4FA0-9637-B1E4F5B0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725" y="5639492"/>
            <a:ext cx="3902400" cy="9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5"/>
              <a:buFont typeface="Arial"/>
              <a:buNone/>
            </a:pPr>
            <a:r>
              <a:rPr sz="1105" b="1">
                <a:solidFill>
                  <a:srgbClr val="FFFFFF"/>
                </a:solidFill>
              </a:rPr>
              <a:t>Биллинг, расчет содержания или полный расчетный цикл. Рост ARPU и выход на более крупных клиентов.</a:t>
            </a:r>
          </a:p>
        </p:txBody>
      </p:sp>
      <p:sp>
        <p:nvSpPr>
          <p:cNvPr id="349" name="Google Shape;349;p14">
            <a:extLst xmlns:a="http://schemas.openxmlformats.org/drawingml/2006/main">
              <a:ext uri="{FF2B5EF4-FFF2-40B4-BE49-F238E27FC236}">
                <a16:creationId xmlns:a16="http://schemas.microsoft.com/office/drawing/2014/main" id="{6E938AA0-A070-4B47-A379-FF5841AC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775" y="2720550"/>
            <a:ext cx="9923100" cy="113040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150" cmpd="sng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7025" tIns="107025" rIns="107025" bIns="1070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0" name="Google Shape;350;p14">
            <a:extLst xmlns:a="http://schemas.openxmlformats.org/drawingml/2006/main">
              <a:ext uri="{FF2B5EF4-FFF2-40B4-BE49-F238E27FC236}">
                <a16:creationId xmlns:a16="http://schemas.microsoft.com/office/drawing/2014/main" id="{A960AA61-31FE-434E-A464-3E4EBD29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100" y="2771825"/>
            <a:ext cx="423600" cy="42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1229"/>
              <a:buFont typeface="Arial"/>
              <a:buNone/>
            </a:pPr>
            <a:r>
              <a:rPr sz="1229" b="1">
                <a:solidFill>
                  <a:srgbClr val="FF570A"/>
                </a:solidFill>
              </a:rPr>
              <a:t>2</a:t>
            </a:r>
          </a:p>
        </p:txBody>
      </p:sp>
      <p:sp>
        <p:nvSpPr>
          <p:cNvPr id="351" name="Google Shape;351;p14">
            <a:extLst xmlns:a="http://schemas.openxmlformats.org/drawingml/2006/main">
              <a:ext uri="{FF2B5EF4-FFF2-40B4-BE49-F238E27FC236}">
                <a16:creationId xmlns:a16="http://schemas.microsoft.com/office/drawing/2014/main" id="{2D7745D5-EA9A-4EBA-964F-95738968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250" y="3073950"/>
            <a:ext cx="4836000" cy="42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019"/>
              <a:buFont typeface="Arial"/>
              <a:buNone/>
            </a:pPr>
            <a:r>
              <a:rPr sz="2019" b="1">
                <a:solidFill>
                  <a:srgbClr val="2E2B24"/>
                </a:solidFill>
              </a:rPr>
              <a:t>ГИС ЖКХ: единое окно по заявкам</a:t>
            </a:r>
          </a:p>
        </p:txBody>
      </p:sp>
      <p:sp>
        <p:nvSpPr>
          <p:cNvPr id="352" name="Google Shape;352;p14">
            <a:extLst xmlns:a="http://schemas.openxmlformats.org/drawingml/2006/main">
              <a:ext uri="{FF2B5EF4-FFF2-40B4-BE49-F238E27FC236}">
                <a16:creationId xmlns:a16="http://schemas.microsoft.com/office/drawing/2014/main" id="{CFF07C5E-A095-43E6-9AE7-ED68BC5C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200" y="791525"/>
            <a:ext cx="51114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3" name="Google Shape;353;p14">
            <a:extLst xmlns:a="http://schemas.openxmlformats.org/drawingml/2006/main">
              <a:ext uri="{FF2B5EF4-FFF2-40B4-BE49-F238E27FC236}">
                <a16:creationId xmlns:a16="http://schemas.microsoft.com/office/drawing/2014/main" id="{F5862D72-8B2C-4C2B-B2F0-C612019C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450" y="2782847"/>
            <a:ext cx="4348200" cy="10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317"/>
              <a:buFont typeface="Arial"/>
              <a:buNone/>
            </a:pPr>
            <a:r>
              <a:rPr sz="1317">
                <a:solidFill>
                  <a:srgbClr val="6E685B"/>
                </a:solidFill>
              </a:rPr>
              <a:t>Убираем двойную работу и создаем обязательный интеграционный контур для робота и РЦ.</a:t>
            </a:r>
          </a:p>
        </p:txBody>
      </p:sp>
    </p:spTree>
    <p:extLst>
      <p:ext uri="{BB962C8B-B14F-4D97-AF65-F5344CB8AC3E}">
        <p14:creationId xmlns:p14="http://schemas.microsoft.com/office/powerpoint/2010/main" val="14687474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1" name="Google Shape;385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67a0d3440b4b4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85750"/>
            <a:ext cx="10668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6" name="Google Shape;386;p16">
            <a:extLst xmlns:a="http://schemas.openxmlformats.org/drawingml/2006/main">
              <a:ext uri="{FF2B5EF4-FFF2-40B4-BE49-F238E27FC236}">
                <a16:creationId xmlns:a16="http://schemas.microsoft.com/office/drawing/2014/main" id="{65217913-B6F7-4333-9845-B14BB27B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900"/>
              <a:buFont typeface="Arial"/>
              <a:buNone/>
            </a:pPr>
            <a:r>
              <a:rPr sz="90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ЭКОНОМИКА КЛИЕНТА</a:t>
            </a:r>
          </a:p>
        </p:txBody>
      </p:sp>
      <p:sp>
        <p:nvSpPr>
          <p:cNvPr id="387" name="Google Shape;387;p16">
            <a:extLst xmlns:a="http://schemas.openxmlformats.org/drawingml/2006/main">
              <a:ext uri="{FF2B5EF4-FFF2-40B4-BE49-F238E27FC236}">
                <a16:creationId xmlns:a16="http://schemas.microsoft.com/office/drawing/2014/main" id="{5D1E9259-40A9-420E-9C4A-7A8FCD3A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419"/>
              <a:buFont typeface="Arial"/>
              <a:buNone/>
            </a:pPr>
            <a:r>
              <a:rPr sz="2419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LTV фиксируем на едином горизонте 3 года</a:t>
            </a:r>
          </a:p>
        </p:txBody>
      </p:sp>
      <p:sp>
        <p:nvSpPr>
          <p:cNvPr id="388" name="Google Shape;388;p16">
            <a:extLst xmlns:a="http://schemas.openxmlformats.org/drawingml/2006/main">
              <a:ext uri="{FF2B5EF4-FFF2-40B4-BE49-F238E27FC236}">
                <a16:creationId xmlns:a16="http://schemas.microsoft.com/office/drawing/2014/main" id="{0D0EC194-CF53-4512-AB16-CB83F50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89" name="Google Shape;389;p16">
            <a:extLst xmlns:a="http://schemas.openxmlformats.org/drawingml/2006/main">
              <a:ext uri="{FF2B5EF4-FFF2-40B4-BE49-F238E27FC236}">
                <a16:creationId xmlns:a16="http://schemas.microsoft.com/office/drawing/2014/main" id="{A9E495DC-7A3E-42A8-B110-C7D7C561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488"/>
              <a:buFont typeface="Arial"/>
              <a:buNone/>
            </a:pPr>
            <a:r>
              <a:rPr sz="1488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Revenue LTV и gross-profit LTV рассчитаны на одной базе действующих клиентов; lifetime 4 года исключен.</a:t>
            </a:r>
          </a:p>
        </p:txBody>
      </p:sp>
      <p:sp>
        <p:nvSpPr>
          <p:cNvPr id="390" name="Google Shape;390;p16">
            <a:extLst xmlns:a="http://schemas.openxmlformats.org/drawingml/2006/main">
              <a:ext uri="{FF2B5EF4-FFF2-40B4-BE49-F238E27FC236}">
                <a16:creationId xmlns:a16="http://schemas.microsoft.com/office/drawing/2014/main" id="{C2B5DCDE-E33D-439F-9F62-F794CF65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550"/>
              <a:buFont typeface="Arial"/>
              <a:buNone/>
            </a:pPr>
            <a:r>
              <a:rPr sz="2550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159</a:t>
            </a:r>
          </a:p>
        </p:txBody>
      </p:sp>
      <p:sp>
        <p:nvSpPr>
          <p:cNvPr id="391" name="Google Shape;391;p16">
            <a:extLst xmlns:a="http://schemas.openxmlformats.org/drawingml/2006/main">
              <a:ext uri="{FF2B5EF4-FFF2-40B4-BE49-F238E27FC236}">
                <a16:creationId xmlns:a16="http://schemas.microsoft.com/office/drawing/2014/main" id="{79F867AE-A84E-4331-A037-F1701B0D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активных клиентов</a:t>
            </a:r>
          </a:p>
        </p:txBody>
      </p:sp>
      <p:sp>
        <p:nvSpPr>
          <p:cNvPr id="392" name="Google Shape;392;p16">
            <a:extLst xmlns:a="http://schemas.openxmlformats.org/drawingml/2006/main">
              <a:ext uri="{FF2B5EF4-FFF2-40B4-BE49-F238E27FC236}">
                <a16:creationId xmlns:a16="http://schemas.microsoft.com/office/drawing/2014/main" id="{09D98C6C-8BCF-4EDF-949C-A00D34AC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2550"/>
              <a:buFont typeface="Arial"/>
              <a:buNone/>
            </a:pPr>
            <a:r>
              <a:rPr sz="255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≈470 тыс. ₽</a:t>
            </a:r>
          </a:p>
        </p:txBody>
      </p:sp>
      <p:sp>
        <p:nvSpPr>
          <p:cNvPr id="393" name="Google Shape;393;p16">
            <a:extLst xmlns:a="http://schemas.openxmlformats.org/drawingml/2006/main">
              <a:ext uri="{FF2B5EF4-FFF2-40B4-BE49-F238E27FC236}">
                <a16:creationId xmlns:a16="http://schemas.microsoft.com/office/drawing/2014/main" id="{AB2360C2-30B0-4DB0-9620-C5D341DA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622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revenue LTV за 3 года</a:t>
            </a:r>
          </a:p>
        </p:txBody>
      </p:sp>
      <p:sp>
        <p:nvSpPr>
          <p:cNvPr id="394" name="Google Shape;394;p16">
            <a:extLst xmlns:a="http://schemas.openxmlformats.org/drawingml/2006/main">
              <a:ext uri="{FF2B5EF4-FFF2-40B4-BE49-F238E27FC236}">
                <a16:creationId xmlns:a16="http://schemas.microsoft.com/office/drawing/2014/main" id="{AF6784FB-0473-4DCE-8FB6-F9FBC6E6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550"/>
              <a:buFont typeface="Arial"/>
              <a:buNone/>
            </a:pPr>
            <a:r>
              <a:rPr sz="2550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≈259 тыс. ₽</a:t>
            </a:r>
          </a:p>
        </p:txBody>
      </p:sp>
      <p:sp>
        <p:nvSpPr>
          <p:cNvPr id="395" name="Google Shape;395;p16">
            <a:extLst xmlns:a="http://schemas.openxmlformats.org/drawingml/2006/main">
              <a:ext uri="{FF2B5EF4-FFF2-40B4-BE49-F238E27FC236}">
                <a16:creationId xmlns:a16="http://schemas.microsoft.com/office/drawing/2014/main" id="{4A75BB9C-C7E7-4B84-96EE-055B2DD2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622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gross-profit LTV за 3 года</a:t>
            </a:r>
          </a:p>
        </p:txBody>
      </p:sp>
      <p:sp>
        <p:nvSpPr>
          <p:cNvPr id="396" name="Google Shape;396;p16">
            <a:extLst xmlns:a="http://schemas.openxmlformats.org/drawingml/2006/main">
              <a:ext uri="{FF2B5EF4-FFF2-40B4-BE49-F238E27FC236}">
                <a16:creationId xmlns:a16="http://schemas.microsoft.com/office/drawing/2014/main" id="{E8872333-2EC6-44A6-A404-2A372877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2550"/>
              <a:buFont typeface="Arial"/>
              <a:buNone/>
            </a:pPr>
            <a:r>
              <a:rPr sz="255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≈335 тыс. ₽</a:t>
            </a:r>
          </a:p>
        </p:txBody>
      </p:sp>
      <p:sp>
        <p:nvSpPr>
          <p:cNvPr id="397" name="Google Shape;397;p16">
            <a:extLst xmlns:a="http://schemas.openxmlformats.org/drawingml/2006/main">
              <a:ext uri="{FF2B5EF4-FFF2-40B4-BE49-F238E27FC236}">
                <a16:creationId xmlns:a16="http://schemas.microsoft.com/office/drawing/2014/main" id="{4FB4200D-50D1-4F60-A1A3-44A3410E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CAC: расходы продаж янв–май / 4 новых клиента H1</a:t>
            </a:r>
          </a:p>
        </p:txBody>
      </p:sp>
      <p:sp>
        <p:nvSpPr>
          <p:cNvPr id="398" name="Google Shape;398;p16">
            <a:extLst xmlns:a="http://schemas.openxmlformats.org/drawingml/2006/main">
              <a:ext uri="{FF2B5EF4-FFF2-40B4-BE49-F238E27FC236}">
                <a16:creationId xmlns:a16="http://schemas.microsoft.com/office/drawing/2014/main" id="{920CF01D-6736-4F09-B9D6-15E56689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10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A64E"/>
              </a:buClr>
              <a:buSzPts val="2550"/>
              <a:buFont typeface="Arial"/>
              <a:buNone/>
            </a:pPr>
            <a:r>
              <a:rPr sz="2550" b="1">
                <a:solidFill>
                  <a:srgbClr val="3AA64E"/>
                </a:solidFill>
                <a:latin typeface="Arial"/>
                <a:ea typeface="Arial"/>
                <a:cs typeface="Arial"/>
              </a:rPr>
              <a:t>≈24 мес.</a:t>
            </a:r>
          </a:p>
        </p:txBody>
      </p:sp>
      <p:sp>
        <p:nvSpPr>
          <p:cNvPr id="399" name="Google Shape;399;p16">
            <a:extLst xmlns:a="http://schemas.openxmlformats.org/drawingml/2006/main">
              <a:ext uri="{FF2B5EF4-FFF2-40B4-BE49-F238E27FC236}">
                <a16:creationId xmlns:a16="http://schemas.microsoft.com/office/drawing/2014/main" id="{00A91F87-C0BE-43F3-BB21-56E84E4D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910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200"/>
              <a:buFont typeface="Arial"/>
              <a:buNone/>
            </a:pPr>
            <a:r>
              <a:rPr sz="1200">
                <a:solidFill>
                  <a:srgbClr val="6E685B"/>
                </a:solidFill>
              </a:rPr>
              <a:t>payback по валовой прибыли при марже 55%</a:t>
            </a:r>
          </a:p>
        </p:txBody>
      </p:sp>
      <p:sp>
        <p:nvSpPr>
          <p:cNvPr id="400" name="Google Shape;400;p16">
            <a:extLst xmlns:a="http://schemas.openxmlformats.org/drawingml/2006/main">
              <a:ext uri="{FF2B5EF4-FFF2-40B4-BE49-F238E27FC236}">
                <a16:creationId xmlns:a16="http://schemas.microsoft.com/office/drawing/2014/main" id="{DF7FA129-DB96-4AC8-AD84-D5962B43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90950"/>
            <a:ext cx="37719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82728"/>
          </a:solidFill>
          <a:ln xmlns:a="http://schemas.openxmlformats.org/drawingml/2006/main" w="9525" cmpd="sng">
            <a:solidFill>
              <a:srgbClr val="28272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1" name="Google Shape;401;p16">
            <a:extLst xmlns:a="http://schemas.openxmlformats.org/drawingml/2006/main">
              <a:ext uri="{FF2B5EF4-FFF2-40B4-BE49-F238E27FC236}">
                <a16:creationId xmlns:a16="http://schemas.microsoft.com/office/drawing/2014/main" id="{9B1092A5-6B9F-46D8-8284-30502CB1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671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1200"/>
              <a:buFont typeface="Arial"/>
              <a:buNone/>
            </a:pPr>
            <a:r>
              <a:rPr sz="120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Условие для найма продаж</a:t>
            </a:r>
          </a:p>
        </p:txBody>
      </p:sp>
      <p:sp>
        <p:nvSpPr>
          <p:cNvPr id="402" name="Google Shape;402;p16">
            <a:extLst xmlns:a="http://schemas.openxmlformats.org/drawingml/2006/main">
              <a:ext uri="{FF2B5EF4-FFF2-40B4-BE49-F238E27FC236}">
                <a16:creationId xmlns:a16="http://schemas.microsoft.com/office/drawing/2014/main" id="{B443B4A5-959A-4FA4-A948-01FBF015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0"/>
              <a:buFont typeface="Arial"/>
              <a:buNone/>
            </a:pPr>
            <a:r>
              <a:rPr sz="1131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Масштабировать канал после подтверждения конверсии и когортного payback не хуже 24 месяцев.</a:t>
            </a:r>
          </a:p>
        </p:txBody>
      </p:sp>
      <p:sp>
        <p:nvSpPr>
          <p:cNvPr id="403" name="Google Shape;403;p16">
            <a:extLst xmlns:a="http://schemas.openxmlformats.org/drawingml/2006/main">
              <a:ext uri="{FF2B5EF4-FFF2-40B4-BE49-F238E27FC236}">
                <a16:creationId xmlns:a16="http://schemas.microsoft.com/office/drawing/2014/main" id="{73EB99C6-072E-47AC-8256-98882C35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050"/>
              <a:buFont typeface="Arial"/>
              <a:buNone/>
            </a:pPr>
            <a:r>
              <a:rPr sz="1050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Методика: 74,766 млн ₽ выручки 2023–2025 / 159 клиентов; gross-profit LTV = revenue LTV × 55%; CAC = 1,338 млн ₽ / 4.</a:t>
            </a:r>
          </a:p>
        </p:txBody>
      </p:sp>
      <p:cxnSp>
        <p:nvCxnSpPr>
          <p:cNvPr id="490" name="Google Shape;404;p16"/>
          <p:cNvCxnSpPr/>
          <p:nvPr/>
        </p:nvCxn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5" name="Google Shape;405;p16">
            <a:extLst xmlns:a="http://schemas.openxmlformats.org/drawingml/2006/main">
              <a:ext uri="{FF2B5EF4-FFF2-40B4-BE49-F238E27FC236}">
                <a16:creationId xmlns:a16="http://schemas.microsoft.com/office/drawing/2014/main" id="{7F9A5C8C-D5CB-4961-A7DE-D3FD2E08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Источники: Мегатаблица · стратегия 2.0 · модель расходов продаж</a:t>
            </a:r>
          </a:p>
        </p:txBody>
      </p:sp>
      <p:sp>
        <p:nvSpPr>
          <p:cNvPr id="406" name="Google Shape;406;p16">
            <a:extLst xmlns:a="http://schemas.openxmlformats.org/drawingml/2006/main">
              <a:ext uri="{FF2B5EF4-FFF2-40B4-BE49-F238E27FC236}">
                <a16:creationId xmlns:a16="http://schemas.microsoft.com/office/drawing/2014/main" id="{B4FA5007-3DB3-418E-A3D5-51E86CA7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5320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825"/>
              <a:buFont typeface="Arial"/>
              <a:buNone/>
            </a:pPr>
            <a:r>
              <a:rPr sz="8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Revenue LTV за 3 года = value за 3 года</a:t>
            </a:r>
          </a:p>
        </p:txBody>
      </p:sp>
    </p:spTree>
    <p:extLst>
      <p:ext uri="{BB962C8B-B14F-4D97-AF65-F5344CB8AC3E}">
        <p14:creationId xmlns:p14="http://schemas.microsoft.com/office/powerpoint/2010/main" val="15238891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6" name="Google Shape;412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2787420bc047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85750"/>
            <a:ext cx="10668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3" name="Google Shape;413;p17">
            <a:extLst xmlns:a="http://schemas.openxmlformats.org/drawingml/2006/main">
              <a:ext uri="{FF2B5EF4-FFF2-40B4-BE49-F238E27FC236}">
                <a16:creationId xmlns:a16="http://schemas.microsoft.com/office/drawing/2014/main" id="{531F8822-3480-4571-AE89-D01AF896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419"/>
              <a:buFont typeface="Arial"/>
              <a:buNone/>
            </a:pPr>
            <a:r>
              <a:rPr sz="2419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KPI 2026: два показателя близки к цели, два требуют пересмотра</a:t>
            </a:r>
          </a:p>
        </p:txBody>
      </p:sp>
      <p:sp>
        <p:nvSpPr>
          <p:cNvPr id="414" name="Google Shape;414;p17">
            <a:extLst xmlns:a="http://schemas.openxmlformats.org/drawingml/2006/main">
              <a:ext uri="{FF2B5EF4-FFF2-40B4-BE49-F238E27FC236}">
                <a16:creationId xmlns:a16="http://schemas.microsoft.com/office/drawing/2014/main" id="{A87E83D3-E4B4-45F1-A7CA-9A721027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15" name="Google Shape;415;p17">
            <a:extLst xmlns:a="http://schemas.openxmlformats.org/drawingml/2006/main">
              <a:ext uri="{FF2B5EF4-FFF2-40B4-BE49-F238E27FC236}">
                <a16:creationId xmlns:a16="http://schemas.microsoft.com/office/drawing/2014/main" id="{AEA39A1C-2F79-46D5-BACF-6F9443C7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381400" cy="2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825"/>
              <a:buFont typeface="Arial"/>
              <a:buNone/>
            </a:pPr>
            <a:r>
              <a:rPr sz="825" b="1">
                <a:solidFill>
                  <a:srgbClr val="FF570A"/>
                </a:solidFill>
              </a:rPr>
              <a:t>ВЫРУЧКА</a:t>
            </a:r>
          </a:p>
        </p:txBody>
      </p:sp>
      <p:sp>
        <p:nvSpPr>
          <p:cNvPr id="416" name="Google Shape;416;p17">
            <a:extLst xmlns:a="http://schemas.openxmlformats.org/drawingml/2006/main">
              <a:ext uri="{FF2B5EF4-FFF2-40B4-BE49-F238E27FC236}">
                <a16:creationId xmlns:a16="http://schemas.microsoft.com/office/drawing/2014/main" id="{DD807860-5627-46D0-8E89-7070C61A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3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325"/>
              <a:buFont typeface="Arial"/>
              <a:buNone/>
            </a:pPr>
            <a:r>
              <a:rPr sz="23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45 млн ₽</a:t>
            </a:r>
          </a:p>
        </p:txBody>
      </p:sp>
      <p:sp>
        <p:nvSpPr>
          <p:cNvPr id="417" name="Google Shape;417;p17">
            <a:extLst xmlns:a="http://schemas.openxmlformats.org/drawingml/2006/main">
              <a:ext uri="{FF2B5EF4-FFF2-40B4-BE49-F238E27FC236}">
                <a16:creationId xmlns:a16="http://schemas.microsoft.com/office/drawing/2014/main" id="{D68FA34B-ED96-43D7-84BA-326D84DA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125"/>
              <a:buFont typeface="Arial"/>
              <a:buNone/>
            </a:pPr>
            <a:r>
              <a:rPr sz="11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H1 16,42 млн ₽ · текущий темп ≈32,84 млн ₽/год</a:t>
            </a:r>
          </a:p>
        </p:txBody>
      </p:sp>
      <p:cxnSp>
        <p:nvCxnSpPr>
          <p:cNvPr id="542" name="Google Shape;418;p17"/>
          <p:cNvCxnSpPr/>
          <p:nvPr/>
        </p:nvCxnSpPr>
        <p:spPr>
          <a:xfrm xmlns:a="http://schemas.openxmlformats.org/drawingml/2006/main">
            <a:off x="685800" y="3419475"/>
            <a:ext cx="236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9" name="Google Shape;419;p17">
            <a:extLst xmlns:a="http://schemas.openxmlformats.org/drawingml/2006/main">
              <a:ext uri="{FF2B5EF4-FFF2-40B4-BE49-F238E27FC236}">
                <a16:creationId xmlns:a16="http://schemas.microsoft.com/office/drawing/2014/main" id="{86538E3D-D8BA-439C-80ED-7D7A3B4F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86000"/>
            <a:ext cx="23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325"/>
              <a:buFont typeface="Arial"/>
              <a:buNone/>
            </a:pPr>
            <a:r>
              <a:rPr sz="23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≥50%</a:t>
            </a:r>
          </a:p>
        </p:txBody>
      </p:sp>
      <p:sp>
        <p:nvSpPr>
          <p:cNvPr id="420" name="Google Shape;420;p17">
            <a:extLst xmlns:a="http://schemas.openxmlformats.org/drawingml/2006/main">
              <a:ext uri="{FF2B5EF4-FFF2-40B4-BE49-F238E27FC236}">
                <a16:creationId xmlns:a16="http://schemas.microsoft.com/office/drawing/2014/main" id="{61BBEE5A-7DED-443E-8322-C94D3D8E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2892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125"/>
              <a:buFont typeface="Arial"/>
              <a:buNone/>
            </a:pPr>
            <a:r>
              <a:rPr sz="11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валовая маржа · база 2025: ≈55%</a:t>
            </a:r>
          </a:p>
        </p:txBody>
      </p:sp>
      <p:cxnSp>
        <p:nvCxnSpPr>
          <p:cNvPr id="545" name="Google Shape;421;p17"/>
          <p:cNvCxnSpPr/>
          <p:nvPr/>
        </p:nvCxnSpPr>
        <p:spPr>
          <a:xfrm xmlns:a="http://schemas.openxmlformats.org/drawingml/2006/main">
            <a:off x="3390900" y="3419475"/>
            <a:ext cx="236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2" name="Google Shape;422;p17">
            <a:extLst xmlns:a="http://schemas.openxmlformats.org/drawingml/2006/main">
              <a:ext uri="{FF2B5EF4-FFF2-40B4-BE49-F238E27FC236}">
                <a16:creationId xmlns:a16="http://schemas.microsoft.com/office/drawing/2014/main" id="{CB03297D-7F6A-44AB-A0F2-B69E13D4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3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325"/>
              <a:buFont typeface="Arial"/>
              <a:buNone/>
            </a:pPr>
            <a:r>
              <a:rPr sz="23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2,95 млн ₽</a:t>
            </a:r>
          </a:p>
        </p:txBody>
      </p:sp>
      <p:sp>
        <p:nvSpPr>
          <p:cNvPr id="423" name="Google Shape;423;p17">
            <a:extLst xmlns:a="http://schemas.openxmlformats.org/drawingml/2006/main">
              <a:ext uri="{FF2B5EF4-FFF2-40B4-BE49-F238E27FC236}">
                <a16:creationId xmlns:a16="http://schemas.microsoft.com/office/drawing/2014/main" id="{BC66A26C-2269-4907-B1C0-52A72F50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125"/>
              <a:buFont typeface="Arial"/>
              <a:buNone/>
            </a:pPr>
            <a:r>
              <a:rPr sz="11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MRR · факт 2,803 млн ₽ (95%); не денежные поступления</a:t>
            </a:r>
          </a:p>
        </p:txBody>
      </p:sp>
      <p:cxnSp>
        <p:nvCxnSpPr>
          <p:cNvPr id="548" name="Google Shape;424;p17"/>
          <p:cNvCxnSpPr/>
          <p:nvPr/>
        </p:nvCxnSpPr>
        <p:spPr>
          <a:xfrm xmlns:a="http://schemas.openxmlformats.org/drawingml/2006/main">
            <a:off x="6096000" y="3419475"/>
            <a:ext cx="236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5" name="Google Shape;425;p17">
            <a:extLst xmlns:a="http://schemas.openxmlformats.org/drawingml/2006/main">
              <a:ext uri="{FF2B5EF4-FFF2-40B4-BE49-F238E27FC236}">
                <a16:creationId xmlns:a16="http://schemas.microsoft.com/office/drawing/2014/main" id="{C1A05EDB-A428-4CE7-B770-5A1760C8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62150"/>
            <a:ext cx="2381400" cy="2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825"/>
              <a:buFont typeface="Arial"/>
              <a:buNone/>
            </a:pPr>
            <a:r>
              <a:rPr sz="825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НОВЫЕ КЛИЕНТЫ</a:t>
            </a:r>
          </a:p>
        </p:txBody>
      </p:sp>
      <p:sp>
        <p:nvSpPr>
          <p:cNvPr id="426" name="Google Shape;426;p17">
            <a:extLst xmlns:a="http://schemas.openxmlformats.org/drawingml/2006/main">
              <a:ext uri="{FF2B5EF4-FFF2-40B4-BE49-F238E27FC236}">
                <a16:creationId xmlns:a16="http://schemas.microsoft.com/office/drawing/2014/main" id="{992B8BBC-FC67-4743-B7A8-FD1A708F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86000"/>
            <a:ext cx="23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325"/>
              <a:buFont typeface="Arial"/>
              <a:buNone/>
            </a:pPr>
            <a:r>
              <a:rPr sz="23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27" name="Google Shape;427;p17">
            <a:extLst xmlns:a="http://schemas.openxmlformats.org/drawingml/2006/main">
              <a:ext uri="{FF2B5EF4-FFF2-40B4-BE49-F238E27FC236}">
                <a16:creationId xmlns:a16="http://schemas.microsoft.com/office/drawing/2014/main" id="{4FC885E0-2FB0-4E78-B320-EF895542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2892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125"/>
              <a:buFont typeface="Arial"/>
              <a:buNone/>
            </a:pPr>
            <a:r>
              <a:rPr sz="11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факт 5 · осталось 35, или ≈6,4 клиента/мес.; нужен rebase</a:t>
            </a:r>
          </a:p>
        </p:txBody>
      </p:sp>
      <p:cxnSp>
        <p:nvCxnSpPr>
          <p:cNvPr id="552" name="Google Shape;428;p17"/>
          <p:cNvCxnSpPr/>
          <p:nvPr/>
        </p:nvCxnSpPr>
        <p:spPr>
          <a:xfrm xmlns:a="http://schemas.openxmlformats.org/drawingml/2006/main">
            <a:off x="8801100" y="3419475"/>
            <a:ext cx="236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9" name="Google Shape;429;p17">
            <a:extLst xmlns:a="http://schemas.openxmlformats.org/drawingml/2006/main">
              <a:ext uri="{FF2B5EF4-FFF2-40B4-BE49-F238E27FC236}">
                <a16:creationId xmlns:a16="http://schemas.microsoft.com/office/drawing/2014/main" id="{104BACBC-41B6-426D-8848-29969750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2381400" cy="2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825"/>
              <a:buFont typeface="Arial"/>
              <a:buNone/>
            </a:pPr>
            <a:r>
              <a:rPr sz="825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ЦИФРОВОЙ ОХВАТ</a:t>
            </a:r>
          </a:p>
        </p:txBody>
      </p:sp>
      <p:sp>
        <p:nvSpPr>
          <p:cNvPr id="430" name="Google Shape;430;p17">
            <a:extLst xmlns:a="http://schemas.openxmlformats.org/drawingml/2006/main">
              <a:ext uri="{FF2B5EF4-FFF2-40B4-BE49-F238E27FC236}">
                <a16:creationId xmlns:a16="http://schemas.microsoft.com/office/drawing/2014/main" id="{179C8E6B-EB73-4BE3-A782-8B7D2985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3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2325"/>
              <a:buFont typeface="Arial"/>
              <a:buNone/>
            </a:pPr>
            <a:r>
              <a:rPr sz="2325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90 тыс.</a:t>
            </a:r>
          </a:p>
        </p:txBody>
      </p:sp>
      <p:sp>
        <p:nvSpPr>
          <p:cNvPr id="431" name="Google Shape;431;p17">
            <a:extLst xmlns:a="http://schemas.openxmlformats.org/drawingml/2006/main">
              <a:ext uri="{FF2B5EF4-FFF2-40B4-BE49-F238E27FC236}">
                <a16:creationId xmlns:a16="http://schemas.microsoft.com/office/drawing/2014/main" id="{29EC1743-E50F-4A7C-AC87-ADEBD6FF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125"/>
              <a:buFont typeface="Arial"/>
              <a:buNone/>
            </a:pPr>
            <a:r>
              <a:rPr sz="11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МП + MAX − дубли; текущая дедуплицированная база не собрана</a:t>
            </a:r>
          </a:p>
        </p:txBody>
      </p:sp>
      <p:cxnSp>
        <p:nvCxnSpPr>
          <p:cNvPr id="556" name="Google Shape;432;p17"/>
          <p:cNvCxnSpPr/>
          <p:nvPr/>
        </p:nvCxnSpPr>
        <p:spPr>
          <a:xfrm xmlns:a="http://schemas.openxmlformats.org/drawingml/2006/main">
            <a:off x="685800" y="5295900"/>
            <a:ext cx="236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3" name="Google Shape;433;p17">
            <a:extLst xmlns:a="http://schemas.openxmlformats.org/drawingml/2006/main">
              <a:ext uri="{FF2B5EF4-FFF2-40B4-BE49-F238E27FC236}">
                <a16:creationId xmlns:a16="http://schemas.microsoft.com/office/drawing/2014/main" id="{7E0CBA8D-D401-44BC-B859-DBEECBE3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00" y="3871825"/>
            <a:ext cx="2381400" cy="2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825"/>
              <a:buFont typeface="Arial"/>
              <a:buNone/>
            </a:pPr>
            <a:r>
              <a:rPr sz="825" b="1">
                <a:solidFill>
                  <a:srgbClr val="FF570A"/>
                </a:solidFill>
              </a:rPr>
              <a:t>РАСЧЕТНЫЙ ЦЕНТР</a:t>
            </a:r>
          </a:p>
        </p:txBody>
      </p:sp>
      <p:sp>
        <p:nvSpPr>
          <p:cNvPr id="434" name="Google Shape;434;p17">
            <a:extLst xmlns:a="http://schemas.openxmlformats.org/drawingml/2006/main">
              <a:ext uri="{FF2B5EF4-FFF2-40B4-BE49-F238E27FC236}">
                <a16:creationId xmlns:a16="http://schemas.microsoft.com/office/drawing/2014/main" id="{15C7CF0E-317A-43B8-A66C-1027073B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62425"/>
            <a:ext cx="23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325"/>
              <a:buFont typeface="Arial"/>
              <a:buNone/>
            </a:pPr>
            <a:r>
              <a:rPr sz="23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10.09.26</a:t>
            </a:r>
          </a:p>
        </p:txBody>
      </p:sp>
      <p:sp>
        <p:nvSpPr>
          <p:cNvPr id="435" name="Google Shape;435;p17">
            <a:extLst xmlns:a="http://schemas.openxmlformats.org/drawingml/2006/main">
              <a:ext uri="{FF2B5EF4-FFF2-40B4-BE49-F238E27FC236}">
                <a16:creationId xmlns:a16="http://schemas.microsoft.com/office/drawing/2014/main" id="{215BDA54-FF4E-4DFE-B4A4-18A8655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125"/>
              <a:buFont typeface="Arial"/>
              <a:buNone/>
            </a:pPr>
            <a:r>
              <a:rPr sz="11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контроль пилотной готовности, не полный production</a:t>
            </a:r>
          </a:p>
        </p:txBody>
      </p:sp>
      <p:cxnSp>
        <p:nvCxnSpPr>
          <p:cNvPr id="560" name="Google Shape;436;p17"/>
          <p:cNvCxnSpPr/>
          <p:nvPr/>
        </p:nvCxnSpPr>
        <p:spPr>
          <a:xfrm xmlns:a="http://schemas.openxmlformats.org/drawingml/2006/main">
            <a:off x="3390900" y="5295900"/>
            <a:ext cx="236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1" name="Google Shape;437;p17"/>
          <p:cNvCxnSpPr/>
          <p:nvPr/>
        </p:nvCxnSpPr>
        <p:spPr>
          <a:xfrm xmlns:a="http://schemas.openxmlformats.org/drawingml/2006/main">
            <a:off x="6096000" y="5295900"/>
            <a:ext cx="236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8" name="Google Shape;438;p17">
            <a:extLst xmlns:a="http://schemas.openxmlformats.org/drawingml/2006/main">
              <a:ext uri="{FF2B5EF4-FFF2-40B4-BE49-F238E27FC236}">
                <a16:creationId xmlns:a16="http://schemas.microsoft.com/office/drawing/2014/main" id="{2A9A4374-83CD-42BB-ABEB-4FDDAA50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2381400" cy="2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825"/>
              <a:buFont typeface="Arial"/>
              <a:buNone/>
            </a:pPr>
            <a:r>
              <a:rPr sz="825" b="1">
                <a:solidFill>
                  <a:srgbClr val="FF570A"/>
                </a:solidFill>
              </a:rPr>
              <a:t>НАДЕЖНОСТЬ</a:t>
            </a:r>
          </a:p>
        </p:txBody>
      </p:sp>
      <p:sp>
        <p:nvSpPr>
          <p:cNvPr id="439" name="Google Shape;439;p17">
            <a:extLst xmlns:a="http://schemas.openxmlformats.org/drawingml/2006/main">
              <a:ext uri="{FF2B5EF4-FFF2-40B4-BE49-F238E27FC236}">
                <a16:creationId xmlns:a16="http://schemas.microsoft.com/office/drawing/2014/main" id="{8359B363-EAE9-42AF-A5EC-F8B1A9C7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38600"/>
            <a:ext cx="23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325"/>
              <a:buFont typeface="Arial"/>
              <a:buNone/>
            </a:pPr>
            <a:r>
              <a:rPr sz="2325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SLA</a:t>
            </a:r>
          </a:p>
        </p:txBody>
      </p:sp>
      <p:sp>
        <p:nvSpPr>
          <p:cNvPr id="440" name="Google Shape;440;p17">
            <a:extLst xmlns:a="http://schemas.openxmlformats.org/drawingml/2006/main">
              <a:ext uri="{FF2B5EF4-FFF2-40B4-BE49-F238E27FC236}">
                <a16:creationId xmlns:a16="http://schemas.microsoft.com/office/drawing/2014/main" id="{523BD69D-D467-4AB1-A9C8-C3F988CD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8152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1125"/>
              <a:buFont typeface="Arial"/>
              <a:buNone/>
            </a:pPr>
            <a:r>
              <a:rPr sz="11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uptime и сроки реакции формализуются</a:t>
            </a:r>
          </a:p>
        </p:txBody>
      </p:sp>
      <p:cxnSp>
        <p:nvCxnSpPr>
          <p:cNvPr id="565" name="Google Shape;441;p17"/>
          <p:cNvCxnSpPr/>
          <p:nvPr/>
        </p:nvCxnSpPr>
        <p:spPr>
          <a:xfrm xmlns:a="http://schemas.openxmlformats.org/drawingml/2006/main">
            <a:off x="8801100" y="5295900"/>
            <a:ext cx="236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597121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3" name="Google Shape;44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abe0d9bac547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85750"/>
            <a:ext cx="10668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8" name="Google Shape;448;p18">
            <a:extLst xmlns:a="http://schemas.openxmlformats.org/drawingml/2006/main">
              <a:ext uri="{FF2B5EF4-FFF2-40B4-BE49-F238E27FC236}">
                <a16:creationId xmlns:a16="http://schemas.microsoft.com/office/drawing/2014/main" id="{471DEC25-C28D-4902-A4D4-4483F5E5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900"/>
              <a:buFont typeface="Arial"/>
              <a:buNone/>
            </a:pPr>
            <a:r>
              <a:rPr sz="90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Q3–Q4 2026</a:t>
            </a:r>
          </a:p>
        </p:txBody>
      </p:sp>
      <p:sp>
        <p:nvSpPr>
          <p:cNvPr id="449" name="Google Shape;449;p18">
            <a:extLst xmlns:a="http://schemas.openxmlformats.org/drawingml/2006/main">
              <a:ext uri="{FF2B5EF4-FFF2-40B4-BE49-F238E27FC236}">
                <a16:creationId xmlns:a16="http://schemas.microsoft.com/office/drawing/2014/main" id="{13FCF946-5DAD-46E8-ADF2-3D56FF3F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2419"/>
              <a:buFont typeface="Arial"/>
              <a:buNone/>
            </a:pPr>
            <a:r>
              <a:rPr sz="2419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Дорожная карта: сначала готовность и пилоты, затем масштабирование</a:t>
            </a:r>
          </a:p>
        </p:txBody>
      </p:sp>
      <p:sp>
        <p:nvSpPr>
          <p:cNvPr id="450" name="Google Shape;450;p18">
            <a:extLst xmlns:a="http://schemas.openxmlformats.org/drawingml/2006/main">
              <a:ext uri="{FF2B5EF4-FFF2-40B4-BE49-F238E27FC236}">
                <a16:creationId xmlns:a16="http://schemas.microsoft.com/office/drawing/2014/main" id="{1ABE45A3-07E3-46B1-8E63-CA0A1A55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cxnSp>
        <p:nvCxnSpPr>
          <p:cNvPr id="537" name="Google Shape;451;p18"/>
          <p:cNvCxnSpPr/>
          <p:nvPr/>
        </p:nvCxnSpPr>
        <p:spPr>
          <a:xfrm xmlns:a="http://schemas.openxmlformats.org/drawingml/2006/main">
            <a:off x="1143276" y="3377526"/>
            <a:ext cx="10114800" cy="0"/>
          </a:xfrm>
          <a:prstGeom xmlns:a="http://schemas.openxmlformats.org/drawingml/2006/main" prst="straightConnector1">
            <a:avLst/>
          </a:prstGeom>
          <a:ln xmlns:a="http://schemas.openxmlformats.org/drawingml/2006/main" w="76200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2" name="Google Shape;452;p18">
            <a:extLst xmlns:a="http://schemas.openxmlformats.org/drawingml/2006/main">
              <a:ext uri="{FF2B5EF4-FFF2-40B4-BE49-F238E27FC236}">
                <a16:creationId xmlns:a16="http://schemas.microsoft.com/office/drawing/2014/main" id="{2A701668-9D73-42FC-92AC-42CFB299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707" y="3215141"/>
            <a:ext cx="274500" cy="32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72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3" name="Google Shape;453;p18">
            <a:extLst xmlns:a="http://schemas.openxmlformats.org/drawingml/2006/main">
              <a:ext uri="{FF2B5EF4-FFF2-40B4-BE49-F238E27FC236}">
                <a16:creationId xmlns:a16="http://schemas.microsoft.com/office/drawing/2014/main" id="{7AFC8B11-27F5-4A89-A0E6-4CF0F333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37" y="2333625"/>
            <a:ext cx="1529100" cy="30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ИЮЛЬ</a:t>
            </a:r>
          </a:p>
        </p:txBody>
      </p:sp>
      <p:sp>
        <p:nvSpPr>
          <p:cNvPr id="454" name="Google Shape;454;p18">
            <a:extLst xmlns:a="http://schemas.openxmlformats.org/drawingml/2006/main">
              <a:ext uri="{FF2B5EF4-FFF2-40B4-BE49-F238E27FC236}">
                <a16:creationId xmlns:a16="http://schemas.microsoft.com/office/drawing/2014/main" id="{C96C6130-0A67-416F-9133-DCE30429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3080"/>
            <a:ext cx="2195400" cy="13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SLA и ошибки робота — Корсунова + Скоробогатов; данные ГИС и AI-прототип — Сайдулин + Корсунова</a:t>
            </a:r>
          </a:p>
        </p:txBody>
      </p:sp>
      <p:sp>
        <p:nvSpPr>
          <p:cNvPr id="455" name="Google Shape;455;p18">
            <a:extLst xmlns:a="http://schemas.openxmlformats.org/drawingml/2006/main">
              <a:ext uri="{FF2B5EF4-FFF2-40B4-BE49-F238E27FC236}">
                <a16:creationId xmlns:a16="http://schemas.microsoft.com/office/drawing/2014/main" id="{A18AB77E-BE47-4DEC-AC2A-4AB92126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989" y="3215141"/>
            <a:ext cx="274500" cy="32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72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6" name="Google Shape;456;p18">
            <a:extLst xmlns:a="http://schemas.openxmlformats.org/drawingml/2006/main">
              <a:ext uri="{FF2B5EF4-FFF2-40B4-BE49-F238E27FC236}">
                <a16:creationId xmlns:a16="http://schemas.microsoft.com/office/drawing/2014/main" id="{A42B7DBD-4AF8-40CA-97DC-E6F17CB8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720" y="2333625"/>
            <a:ext cx="1529100" cy="30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АВГУСТ</a:t>
            </a:r>
          </a:p>
        </p:txBody>
      </p:sp>
      <p:sp>
        <p:nvSpPr>
          <p:cNvPr id="457" name="Google Shape;457;p18">
            <a:extLst xmlns:a="http://schemas.openxmlformats.org/drawingml/2006/main">
              <a:ext uri="{FF2B5EF4-FFF2-40B4-BE49-F238E27FC236}">
                <a16:creationId xmlns:a16="http://schemas.microsoft.com/office/drawing/2014/main" id="{26D8C029-1F87-4DD9-BA65-0DC40121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483" y="3853080"/>
            <a:ext cx="2195400" cy="15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ГИС и SLA-модуль — Сайдулин + Корсунова; контур РЦ — Сайдулин + 66bit</a:t>
            </a:r>
          </a:p>
        </p:txBody>
      </p:sp>
      <p:sp>
        <p:nvSpPr>
          <p:cNvPr id="458" name="Google Shape;458;p18">
            <a:extLst xmlns:a="http://schemas.openxmlformats.org/drawingml/2006/main">
              <a:ext uri="{FF2B5EF4-FFF2-40B4-BE49-F238E27FC236}">
                <a16:creationId xmlns:a16="http://schemas.microsoft.com/office/drawing/2014/main" id="{939B7E45-B6A1-4805-AB5B-59BED060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272" y="3215141"/>
            <a:ext cx="274500" cy="32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0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9" name="Google Shape;459;p18">
            <a:extLst xmlns:a="http://schemas.openxmlformats.org/drawingml/2006/main">
              <a:ext uri="{FF2B5EF4-FFF2-40B4-BE49-F238E27FC236}">
                <a16:creationId xmlns:a16="http://schemas.microsoft.com/office/drawing/2014/main" id="{1F18743B-7BB9-4FE8-8176-A103028B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002" y="2333625"/>
            <a:ext cx="1529100" cy="30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975"/>
              <a:buFont typeface="Arial"/>
              <a:buNone/>
            </a:pPr>
            <a:r>
              <a:rPr sz="975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10 СЕН</a:t>
            </a:r>
          </a:p>
        </p:txBody>
      </p:sp>
      <p:sp>
        <p:nvSpPr>
          <p:cNvPr id="460" name="Google Shape;460;p18">
            <a:extLst xmlns:a="http://schemas.openxmlformats.org/drawingml/2006/main">
              <a:ext uri="{FF2B5EF4-FFF2-40B4-BE49-F238E27FC236}">
                <a16:creationId xmlns:a16="http://schemas.microsoft.com/office/drawing/2014/main" id="{333FAEEE-AE5E-422F-BB93-BE78E024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765" y="3853080"/>
            <a:ext cx="2195400" cy="55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350"/>
              <a:buFont typeface="Arial"/>
              <a:buNone/>
            </a:pPr>
            <a:r>
              <a:rPr sz="1350" b="1">
                <a:solidFill>
                  <a:srgbClr val="2E2B24"/>
                </a:solidFill>
                <a:latin typeface="Arial"/>
                <a:ea typeface="Arial"/>
                <a:cs typeface="Arial"/>
              </a:rPr>
              <a:t>Готовность РЦ</a:t>
            </a:r>
          </a:p>
        </p:txBody>
      </p:sp>
      <p:sp>
        <p:nvSpPr>
          <p:cNvPr id="461" name="Google Shape;461;p18">
            <a:extLst xmlns:a="http://schemas.openxmlformats.org/drawingml/2006/main">
              <a:ext uri="{FF2B5EF4-FFF2-40B4-BE49-F238E27FC236}">
                <a16:creationId xmlns:a16="http://schemas.microsoft.com/office/drawing/2014/main" id="{62E3606B-F5A0-4E35-974B-B7B5891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765" y="4276394"/>
            <a:ext cx="2195400" cy="103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Контрольный расчет РЦ — Сайдулин + 66bit + эксперт; решение о старте продаж биллинга</a:t>
            </a:r>
          </a:p>
        </p:txBody>
      </p:sp>
      <p:sp>
        <p:nvSpPr>
          <p:cNvPr id="462" name="Google Shape;462;p18">
            <a:extLst xmlns:a="http://schemas.openxmlformats.org/drawingml/2006/main">
              <a:ext uri="{FF2B5EF4-FFF2-40B4-BE49-F238E27FC236}">
                <a16:creationId xmlns:a16="http://schemas.microsoft.com/office/drawing/2014/main" id="{1E776BAE-3EBB-4DAA-880F-28E989C4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2554" y="3215141"/>
            <a:ext cx="274500" cy="32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72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3" name="Google Shape;463;p18">
            <a:extLst xmlns:a="http://schemas.openxmlformats.org/drawingml/2006/main">
              <a:ext uri="{FF2B5EF4-FFF2-40B4-BE49-F238E27FC236}">
                <a16:creationId xmlns:a16="http://schemas.microsoft.com/office/drawing/2014/main" id="{0E25A4CF-CCC0-4D4C-927E-D3F8AA50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285" y="2333625"/>
            <a:ext cx="1529100" cy="30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975"/>
              <a:buFont typeface="Arial"/>
              <a:buNone/>
            </a:pPr>
            <a:r>
              <a:rPr sz="975" b="1">
                <a:solidFill>
                  <a:srgbClr val="6E685B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464" name="Google Shape;464;p18">
            <a:extLst xmlns:a="http://schemas.openxmlformats.org/drawingml/2006/main">
              <a:ext uri="{FF2B5EF4-FFF2-40B4-BE49-F238E27FC236}">
                <a16:creationId xmlns:a16="http://schemas.microsoft.com/office/drawing/2014/main" id="{7356D308-007D-4BF7-8B2F-3B25A375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285" y="3766089"/>
            <a:ext cx="2195400" cy="55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B24"/>
              </a:buClr>
              <a:buSzPts val="1350"/>
              <a:buFont typeface="Arial"/>
              <a:buNone/>
            </a:pPr>
            <a:r>
              <a:rPr sz="1350" b="1">
                <a:solidFill>
                  <a:srgbClr val="2E2B24"/>
                </a:solidFill>
              </a:rPr>
              <a:t>ГИС ЖКХ + AI-диспетчер</a:t>
            </a:r>
          </a:p>
        </p:txBody>
      </p:sp>
      <p:sp>
        <p:nvSpPr>
          <p:cNvPr id="465" name="Google Shape;465;p18">
            <a:extLst xmlns:a="http://schemas.openxmlformats.org/drawingml/2006/main">
              <a:ext uri="{FF2B5EF4-FFF2-40B4-BE49-F238E27FC236}">
                <a16:creationId xmlns:a16="http://schemas.microsoft.com/office/drawing/2014/main" id="{97B031AA-E602-4FCD-98D2-5B08E5D9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35" y="4540277"/>
            <a:ext cx="3293100" cy="103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Апсейл — Амосов + аккаунт; AI-пилоты — Сайдулин + Корсунова; решение о масштабе</a:t>
            </a:r>
          </a:p>
        </p:txBody>
      </p:sp>
      <p:cxnSp>
        <p:nvCxnSpPr>
          <p:cNvPr id="552" name="Google Shape;466;p18"/>
          <p:cNvCxnSpPr/>
          <p:nvPr/>
        </p:nvCxn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7" name="Google Shape;467;p18">
            <a:extLst xmlns:a="http://schemas.openxmlformats.org/drawingml/2006/main">
              <a:ext uri="{FF2B5EF4-FFF2-40B4-BE49-F238E27FC236}">
                <a16:creationId xmlns:a16="http://schemas.microsoft.com/office/drawing/2014/main" id="{8637B0D1-9089-498C-9FD6-2B979E66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1" u="sng">
                <a:solidFill>
                  <a:schemeClr val="hlink"/>
                </a:solidFill>
                <a:latin typeface="Arial"/>
                <a:ea typeface="Arial"/>
                <a:cs typeface="Arial"/>
                <a:hlinkClick xmlns:r="http://schemas.openxmlformats.org/officeDocument/2006/relationships" r:id="Rf42de8d7c4ff4a18"/>
              </a:rPr>
              <a:t>Источник: дорожная карта МДО 2026 · актуализация 16.07.2026</a:t>
            </a:r>
          </a:p>
        </p:txBody>
      </p:sp>
      <p:sp>
        <p:nvSpPr>
          <p:cNvPr id="468" name="Google Shape;468;p18">
            <a:extLst xmlns:a="http://schemas.openxmlformats.org/drawingml/2006/main">
              <a:ext uri="{FF2B5EF4-FFF2-40B4-BE49-F238E27FC236}">
                <a16:creationId xmlns:a16="http://schemas.microsoft.com/office/drawing/2014/main" id="{25BFE338-AD0B-4F56-98C3-CB55B587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5320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685B"/>
              </a:buClr>
              <a:buSzPts val="825"/>
              <a:buFont typeface="Arial"/>
              <a:buNone/>
            </a:pPr>
            <a:r>
              <a:rPr sz="825" b="0">
                <a:solidFill>
                  <a:srgbClr val="6E685B"/>
                </a:solidFill>
                <a:latin typeface="Arial"/>
                <a:ea typeface="Arial"/>
                <a:cs typeface="Arial"/>
              </a:rPr>
              <a:t>Контрольная дата РЦ для защиты: 10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662604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82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5" name="Google Shape;474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b2d41c0b7c4e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400050"/>
            <a:ext cx="12954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5" name="Google Shape;475;p19">
            <a:extLst xmlns:a="http://schemas.openxmlformats.org/drawingml/2006/main">
              <a:ext uri="{FF2B5EF4-FFF2-40B4-BE49-F238E27FC236}">
                <a16:creationId xmlns:a16="http://schemas.microsoft.com/office/drawing/2014/main" id="{73CACB04-4630-40FE-8CEA-8182801F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75" y="609600"/>
            <a:ext cx="9810900" cy="14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62"/>
              <a:buFont typeface="Arial"/>
              <a:buNone/>
            </a:pPr>
            <a:r>
              <a:rPr sz="25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МДО к 2028 году: лидер по разгрузке диспетчеризации и закрытому контуру работы с жителем</a:t>
            </a:r>
          </a:p>
        </p:txBody>
      </p:sp>
      <p:cxnSp>
        <p:nvCxnSpPr>
          <p:cNvPr id="517" name="Google Shape;476;p19"/>
          <p:cNvCxnSpPr/>
          <p:nvPr/>
        </p:nvCxnSpPr>
        <p:spPr>
          <a:xfrm xmlns:a="http://schemas.openxmlformats.org/drawingml/2006/main">
            <a:off x="685800" y="292417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49464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7" name="Google Shape;477;p19">
            <a:extLst xmlns:a="http://schemas.openxmlformats.org/drawingml/2006/main">
              <a:ext uri="{FF2B5EF4-FFF2-40B4-BE49-F238E27FC236}">
                <a16:creationId xmlns:a16="http://schemas.microsoft.com/office/drawing/2014/main" id="{1329AC75-C973-4CCD-9A9D-EEF2FA55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617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3600"/>
              <a:buFont typeface="Arial"/>
              <a:buNone/>
            </a:pPr>
            <a:r>
              <a:rPr sz="360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478" name="Google Shape;478;p19">
            <a:extLst xmlns:a="http://schemas.openxmlformats.org/drawingml/2006/main">
              <a:ext uri="{FF2B5EF4-FFF2-40B4-BE49-F238E27FC236}">
                <a16:creationId xmlns:a16="http://schemas.microsoft.com/office/drawing/2014/main" id="{84D5A5C9-C061-42F9-BD0B-F2222878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4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CBCBC"/>
              </a:buClr>
              <a:buSzPts val="1200"/>
              <a:buFont typeface="Arial"/>
              <a:buNone/>
            </a:pPr>
            <a:r>
              <a:rPr sz="1200" b="0">
                <a:solidFill>
                  <a:srgbClr val="BCBCBC"/>
                </a:solidFill>
                <a:latin typeface="Arial"/>
                <a:ea typeface="Arial"/>
                <a:cs typeface="Arial"/>
              </a:rPr>
              <a:t>новых продаж, где робот-диспетчер — причина выбора МДО</a:t>
            </a:r>
          </a:p>
        </p:txBody>
      </p:sp>
      <p:sp>
        <p:nvSpPr>
          <p:cNvPr id="479" name="Google Shape;479;p19">
            <a:extLst xmlns:a="http://schemas.openxmlformats.org/drawingml/2006/main">
              <a:ext uri="{FF2B5EF4-FFF2-40B4-BE49-F238E27FC236}">
                <a16:creationId xmlns:a16="http://schemas.microsoft.com/office/drawing/2014/main" id="{3C9275D9-8530-455F-8FC3-7EC6E313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6213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3600"/>
              <a:buFont typeface="Arial"/>
              <a:buNone/>
            </a:pPr>
            <a:r>
              <a:rPr sz="360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480" name="Google Shape;480;p19">
            <a:extLst xmlns:a="http://schemas.openxmlformats.org/drawingml/2006/main">
              <a:ext uri="{FF2B5EF4-FFF2-40B4-BE49-F238E27FC236}">
                <a16:creationId xmlns:a16="http://schemas.microsoft.com/office/drawing/2014/main" id="{1061299F-37BD-4903-B79F-DE74BED2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4388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CBCBC"/>
              </a:buClr>
              <a:buSzPts val="1200"/>
              <a:buFont typeface="Arial"/>
              <a:buNone/>
            </a:pPr>
            <a:r>
              <a:rPr sz="1200" b="0">
                <a:solidFill>
                  <a:srgbClr val="BCBCBC"/>
                </a:solidFill>
                <a:latin typeface="Arial"/>
                <a:ea typeface="Arial"/>
                <a:cs typeface="Arial"/>
              </a:rPr>
              <a:t>новых продаж вместе с РЦ / биллингом / расчетной услугой</a:t>
            </a:r>
          </a:p>
        </p:txBody>
      </p:sp>
      <p:cxnSp>
        <p:nvCxnSpPr>
          <p:cNvPr id="522" name="Google Shape;481;p19"/>
          <p:cNvCxnSpPr/>
          <p:nvPr/>
        </p:nvCxn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49464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2" name="Google Shape;482;p19">
            <a:extLst xmlns:a="http://schemas.openxmlformats.org/drawingml/2006/main">
              <a:ext uri="{FF2B5EF4-FFF2-40B4-BE49-F238E27FC236}">
                <a16:creationId xmlns:a16="http://schemas.microsoft.com/office/drawing/2014/main" id="{ABC42D09-6EF2-456D-B769-E8CE519F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55320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25"/>
              <a:buFont typeface="Arial"/>
              <a:buNone/>
            </a:pPr>
            <a:r>
              <a:rPr sz="825" b="0">
                <a:solidFill>
                  <a:srgbClr val="A6A6A6"/>
                </a:solidFill>
                <a:latin typeface="Arial"/>
                <a:ea typeface="Arial"/>
                <a:cs typeface="Arial"/>
              </a:rPr>
              <a:t>Измеримый горизонт: 2028 · сегменты могут пересекаться с продуктовым миксом</a:t>
            </a:r>
          </a:p>
        </p:txBody>
      </p:sp>
      <p:sp>
        <p:nvSpPr>
          <p:cNvPr id="483" name="Google Shape;483;p19">
            <a:extLst xmlns:a="http://schemas.openxmlformats.org/drawingml/2006/main">
              <a:ext uri="{FF2B5EF4-FFF2-40B4-BE49-F238E27FC236}">
                <a16:creationId xmlns:a16="http://schemas.microsoft.com/office/drawing/2014/main" id="{F689C6BB-63CC-4E6A-BAF8-3F44B24C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4925"/>
            <a:ext cx="123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3600"/>
              <a:buFont typeface="Arial"/>
              <a:buNone/>
            </a:pPr>
            <a:r>
              <a:rPr sz="3600" b="1">
                <a:solidFill>
                  <a:srgbClr val="FF570A"/>
                </a:solidFill>
              </a:rPr>
              <a:t>25</a:t>
            </a:r>
            <a:r>
              <a:rPr sz="360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%</a:t>
            </a:r>
          </a:p>
        </p:txBody>
      </p:sp>
      <p:sp>
        <p:nvSpPr>
          <p:cNvPr id="484" name="Google Shape;484;p19">
            <a:extLst xmlns:a="http://schemas.openxmlformats.org/drawingml/2006/main">
              <a:ext uri="{FF2B5EF4-FFF2-40B4-BE49-F238E27FC236}">
                <a16:creationId xmlns:a16="http://schemas.microsoft.com/office/drawing/2014/main" id="{51F9D861-A415-479E-8356-B921AB72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425" y="5187321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CBCBC"/>
              </a:buClr>
              <a:buSzPts val="1200"/>
              <a:buFont typeface="Arial"/>
              <a:buNone/>
            </a:pPr>
            <a:r>
              <a:rPr sz="1200">
                <a:solidFill>
                  <a:srgbClr val="BCBCBC"/>
                </a:solidFill>
              </a:rPr>
              <a:t>новых клиентов — сервисные УК Москвы</a:t>
            </a:r>
          </a:p>
        </p:txBody>
      </p:sp>
      <p:sp>
        <p:nvSpPr>
          <p:cNvPr id="485" name="Google Shape;485;p19">
            <a:extLst xmlns:a="http://schemas.openxmlformats.org/drawingml/2006/main">
              <a:ext uri="{FF2B5EF4-FFF2-40B4-BE49-F238E27FC236}">
                <a16:creationId xmlns:a16="http://schemas.microsoft.com/office/drawing/2014/main" id="{2F4509D6-A690-4845-BCCF-FE16AECF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750" y="3991050"/>
            <a:ext cx="123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70A"/>
              </a:buClr>
              <a:buSzPts val="3600"/>
              <a:buFont typeface="Arial"/>
              <a:buNone/>
            </a:pPr>
            <a:r>
              <a:rPr sz="3600" b="1">
                <a:solidFill>
                  <a:srgbClr val="FF570A"/>
                </a:solidFill>
              </a:rPr>
              <a:t>30</a:t>
            </a:r>
            <a:r>
              <a:rPr sz="3600" b="1">
                <a:solidFill>
                  <a:srgbClr val="FF570A"/>
                </a:solidFill>
                <a:latin typeface="Arial"/>
                <a:ea typeface="Arial"/>
                <a:cs typeface="Arial"/>
              </a:rPr>
              <a:t>%</a:t>
            </a:r>
          </a:p>
        </p:txBody>
      </p:sp>
      <p:sp>
        <p:nvSpPr>
          <p:cNvPr id="486" name="Google Shape;486;p19">
            <a:extLst xmlns:a="http://schemas.openxmlformats.org/drawingml/2006/main">
              <a:ext uri="{FF2B5EF4-FFF2-40B4-BE49-F238E27FC236}">
                <a16:creationId xmlns:a16="http://schemas.microsoft.com/office/drawing/2014/main" id="{068F6D12-52AA-455B-9879-0BD9A8FE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475" y="4114879"/>
            <a:ext cx="4762500" cy="56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CBCBC"/>
              </a:buClr>
              <a:buSzPts val="1200"/>
              <a:buFont typeface="Arial"/>
              <a:buNone/>
            </a:pPr>
            <a:r>
              <a:rPr sz="1200">
                <a:solidFill>
                  <a:srgbClr val="BCBCBC"/>
                </a:solidFill>
              </a:rPr>
              <a:t>новых клиентов — РСО, разгружающие абонентский контур через AI-робота</a:t>
            </a:r>
          </a:p>
        </p:txBody>
      </p:sp>
    </p:spTree>
    <p:extLst>
      <p:ext uri="{BB962C8B-B14F-4D97-AF65-F5344CB8AC3E}">
        <p14:creationId xmlns:p14="http://schemas.microsoft.com/office/powerpoint/2010/main" val="19061696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5DAD2A6C-3521-4C63-BCFC-6FA3107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237" y="274326"/>
            <a:ext cx="3438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1" b="1">
                <a:solidFill>
                  <a:srgbClr val="FF570A"/>
                </a:solidFill>
              </a:rPr>
              <a:t>ОТВЕТЫ КОМИТЕТА · 1/2</a:t>
            </a:r>
          </a:p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3E16FCEA-47EE-47DA-8175-E7C8C0BD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274320"/>
            <a:ext cx="3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736E63"/>
                </a:solidFill>
              </a:rPr>
              <a:t>18</a:t>
            </a: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0254834D-D2C8-457D-A3C6-55319E0E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790188"/>
            <a:ext cx="11834700" cy="7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44" b="1">
                <a:solidFill>
                  <a:srgbClr val="292729"/>
                </a:solidFill>
              </a:rPr>
              <a:t>Бизнес и финансы: короткие ответы</a:t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5EAFCC82-B398-4DB2-9C08-0F7E8BB7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1558923"/>
            <a:ext cx="1193550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93">
                <a:solidFill>
                  <a:srgbClr val="736E63"/>
                </a:solidFill>
              </a:rPr>
              <a:t>Подробные расчеты остаются в рабочих таблицах; здесь — решения, которые влияют на стратегию.</a:t>
            </a: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73B3ADED-E5E7-4695-8975-089A95A4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2165819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846FE0E0-1DD9-44DD-853E-A52A1128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2297313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>01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BEF8F11-6454-448D-B552-29A57430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2266968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Почему не выполнен план 2025?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54506F8-1BEE-4B2A-BC06-ED0D4168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2277083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План 40,0 · факт 32,742 · разрыв 7,258 млн ₽; около 5 месяцев без устойчивого контура продаж.</a:t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7B9BD155-91F5-4EE0-90A7-CA8BB4DF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2954783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4DB01916-3354-4EAF-B573-9D5ADF52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3086277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>02</a:t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A17EE359-2792-4915-B63C-DBBAB7FF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3055933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Прибыль до и после аллокации?</a:t>
            </a: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A0EF3B28-2865-4337-9644-F781BE66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3066048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Аллокация мала относительно OPEX и не объясняет убыток; инвестиции и выплаты — ниже операционной линии.</a:t>
            </a: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3A9A2ABF-819C-48D9-964B-46EA32E9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3743748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1245178A-FA32-46B2-B876-C406C7D3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3875242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>03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685D49D5-E7FF-4317-BD97-6C2461A1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3844897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Что дает найм продаж?</a:t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B73337A4-5C35-46EF-A85C-8932A8E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3855012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CAC ≈335 тыс. ₽, GP-payback ≈24 мес.; найм — после подтверждения конверсии и окупаемости канала.</a:t>
            </a:r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4522E062-E629-41EB-A825-0D7DA024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4532713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1F335768-99AC-45AF-A552-829DE65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4664207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>04</a:t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1F9A20B9-9BCA-49C4-A3E8-9366B874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4633862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Почему без капитализации?</a:t>
            </a:r>
          </a:p>
        </p:txBody>
      </p:sp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CA118F94-4A53-4E38-B9B0-264ACC82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4643977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Это решение учредителей. Операционная стратегия отвечает за выручку, маржу, churn и окупаемость.</a:t>
            </a:r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972BBA3C-C3B3-42C8-8D87-85F2CE40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5483516"/>
            <a:ext cx="11986200" cy="728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27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F9CA9C0F-0BC4-45B8-92C5-A4B39112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54" y="5706060"/>
            <a:ext cx="8395200" cy="42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 b="1" u="sng">
                <a:solidFill>
                  <a:schemeClr val="lt1"/>
                </a:solidFill>
                <a:hlinkClick xmlns:r="http://schemas.openxmlformats.org/officeDocument/2006/relationships" r:id="R230df80acf914f55"/>
              </a:rPr>
              <a:t>Подробности: слайды 3–5 и 14–15</a:t>
            </a:r>
          </a:p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326855B6-316D-42A7-98E3-3485D68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502" y="5625126"/>
            <a:ext cx="3034500" cy="42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1">
                <a:solidFill>
                  <a:srgbClr val="E3E0DB"/>
                </a:solidFill>
              </a:rPr>
              <a:t>Приложение к повторной защите</a:t>
            </a:r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7ED64A2A-9210-4DF0-A0D9-8FDA561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6484895"/>
            <a:ext cx="8597700" cy="20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>
                <a:solidFill>
                  <a:srgbClr val="736E63"/>
                </a:solidFill>
              </a:rPr>
              <a:t>Источники: стратегия МДО 2.0 · Мегатаблица · финансовая модель и аллокация</a:t>
            </a:r>
          </a:p>
        </p:txBody>
      </p:sp>
    </p:spTree>
    <p:extLst>
      <p:ext uri="{BB962C8B-B14F-4D97-AF65-F5344CB8AC3E}">
        <p14:creationId xmlns:p14="http://schemas.microsoft.com/office/powerpoint/2010/main" val="16772132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5DAD2A6C-3521-4C63-BCFC-6FA3107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237" y="274326"/>
            <a:ext cx="3438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1" b="1">
                <a:solidFill>
                  <a:srgbClr val="FF570A"/>
                </a:solidFill>
              </a:rPr>
              <a:t>ОТВЕТЫ КОМИТЕТА · 2/2</a:t>
            </a:r>
          </a:p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3E16FCEA-47EE-47DA-8175-E7C8C0BD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274320"/>
            <a:ext cx="3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736E63"/>
                </a:solidFill>
              </a:rPr>
              <a:t>19</a:t>
            </a: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0254834D-D2C8-457D-A3C6-55319E0E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790188"/>
            <a:ext cx="11834700" cy="7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44" b="1">
                <a:solidFill>
                  <a:srgbClr val="292729"/>
                </a:solidFill>
              </a:rPr>
              <a:t>Стратегия и исполнение: короткие ответы</a:t>
            </a: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5EAFCC82-B398-4DB2-9C08-0F7E8BB7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1558923"/>
            <a:ext cx="11935500" cy="4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93">
                <a:solidFill>
                  <a:srgbClr val="736E63"/>
                </a:solidFill>
              </a:rPr>
              <a:t>Карта, метрики и дорожная карта связаны с теми рисками и точками роста, которые подтвердило исследование.</a:t>
            </a: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73B3ADED-E5E7-4695-8975-089A95A4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2165819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846FE0E0-1DD9-44DD-853E-A52A1128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2297313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/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BEF8F11-6454-448D-B552-29A57430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2266968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01 · Где стратегическая карта и ССП?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54506F8-1BEE-4B2A-BC06-ED0D4168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2277083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5 блоков: финансы, клиенты, продукт, процессы, команда; у каждой цели есть метрика, владелец и статус.</a:t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7B9BD155-91F5-4EE0-90A7-CA8BB4DF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2954783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4DB01916-3354-4EAF-B573-9D5ADF52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3086277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/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A17EE359-2792-4915-B63C-DBBAB7FF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3055933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02 · Где дорожная карта?</a:t>
            </a: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A0EF3B28-2865-4337-9644-F781BE66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3066048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Слайд 16 + рабочая таблица; единая контрольная дата РЦ — 10.09.2026.</a:t>
            </a: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3A9A2ABF-819C-48D9-964B-46EA32E9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3743748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1245178A-FA32-46B2-B876-C406C7D3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3875242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/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685D49D5-E7FF-4317-BD97-6C2461A1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3844897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03 · Какой главный драйвер роста?</a:t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B73337A4-5C35-46EF-A85C-8932A8E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3855012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Надежный робот — вход в продажу; ГИС — единое окно; РЦ — рост ARPU после проверки fit.</a:t>
            </a:r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4522E062-E629-41EB-A825-0D7DA024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4532713"/>
            <a:ext cx="11986200" cy="647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1F335768-99AC-45AF-A552-829DE65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03" y="4664207"/>
            <a:ext cx="556200" cy="28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91" b="1">
                <a:solidFill>
                  <a:srgbClr val="FF570A"/>
                </a:solidFill>
              </a:rPr>
              <a:t/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1F9A20B9-9BCA-49C4-A3E8-9366B874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39" y="4633862"/>
            <a:ext cx="3084900" cy="3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5" b="1">
                <a:solidFill>
                  <a:srgbClr val="292729"/>
                </a:solidFill>
              </a:rPr>
              <a:t>04 · РЦ уже готов?</a:t>
            </a:r>
          </a:p>
        </p:txBody>
      </p:sp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CA118F94-4A53-4E38-B9B0-264ACC82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03" y="4643977"/>
            <a:ext cx="7333200" cy="3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>
                <a:solidFill>
                  <a:srgbClr val="736E63"/>
                </a:solidFill>
              </a:rPr>
              <a:t>Нет. Платящий клиент МДО вошел в пилот; production readiness и прямой обмен с ГИС не подтверждены.</a:t>
            </a:r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972BBA3C-C3B3-42C8-8D87-85F2CE40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5483516"/>
            <a:ext cx="11986200" cy="728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9272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F9CA9C0F-0BC4-45B8-92C5-A4B39112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54" y="5706060"/>
            <a:ext cx="8395200" cy="42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3" b="1" u="sng">
                <a:solidFill>
                  <a:schemeClr val="lt1"/>
                </a:solidFill>
                <a:hlinkClick xmlns:r="http://schemas.openxmlformats.org/officeDocument/2006/relationships" r:id="R3f820cc8f22047c9"/>
              </a:rPr>
              <a:t>Почему не только Doma.ai? 63,1% отказов МДО — собственный или ручной процесс.</a:t>
            </a:r>
          </a:p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326855B6-316D-42A7-98E3-3485D68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502" y="5625126"/>
            <a:ext cx="3034500" cy="42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1">
                <a:solidFill>
                  <a:srgbClr val="E3E0DB"/>
                </a:solidFill>
              </a:rPr>
              <a:t>Это структура CRM-отказов, не доля рынка</a:t>
            </a:r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7ED64A2A-9210-4DF0-A0D9-8FDA561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0" y="6484895"/>
            <a:ext cx="8597700" cy="20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1125" tIns="101125" rIns="101125" bIns="1011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>
                <a:solidFill>
                  <a:srgbClr val="736E63"/>
                </a:solidFill>
              </a:rPr>
              <a:t>Источники: стратегия МДО 2.0 · дорожная карта · итоговый срез исследования · статус РЦ 13.07.2026</a:t>
            </a:r>
          </a:p>
        </p:txBody>
      </p:sp>
    </p:spTree>
    <p:extLst>
      <p:ext uri="{BB962C8B-B14F-4D97-AF65-F5344CB8AC3E}">
        <p14:creationId xmlns:p14="http://schemas.microsoft.com/office/powerpoint/2010/main" val="1677213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2026-07-16T16:07:55.5900000Z</dcterms:created>
  <dcterms:modified xsi:type="dcterms:W3CDTF">2026-07-16T16:07:55.5900000Z</dcterms:modified>
</coreProperties>
</file>